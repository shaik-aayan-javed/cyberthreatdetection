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vs real time</c:v>
                </c:pt>
              </c:strCache>
            </c:strRef>
          </c:tx>
          <c:spPr>
            <a:solidFill>
              <a:srgbClr val="A5651E"/>
            </a:solidFill>
          </c:spPr>
          <c:cat>
            <c:strRef>
              <c:f>Sheet1!$A$2:$A$3</c:f>
              <c:strCache>
                <c:ptCount val="2"/>
                <c:pt idx="0">
                  <c:v>mixed.pcap</c:v>
                </c:pt>
                <c:pt idx="1">
                  <c:v>synflood.pcap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109</c:v>
                </c:pt>
                <c:pt idx="1">
                  <c:v>120</c:v>
                </c:pt>
              </c:numCache>
            </c:numRef>
          </c:val>
        </c:ser>
        <c:dLbls>
          <c:numFmt formatCode="0&quot;x&quot;" sourceLinked="0"/>
          <c:txPr>
            <a:bodyPr/>
            <a:lstStyle/>
            <a:p>
              <a:pPr>
                <a:defRPr sz="1500" b="1">
                  <a:solidFill>
                    <a:srgbClr val="1B21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1DDD4"/>
            </a:solidFill>
          </a:ln>
        </c:spPr>
        <c:txPr>
          <a:bodyPr/>
          <a:lstStyle/>
          <a:p>
            <a:pPr>
              <a:defRPr sz="125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1750" cy="6858000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A5651E"/>
                </a:solidFill>
                <a:latin typeface="Calibri"/>
              </a:rPr>
              <a:t>SMART INDIA HACKATHON  ·  PROBLEM STATEMENT 26145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75895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B211F"/>
                </a:solidFill>
                <a:latin typeface="Calibri"/>
              </a:rPr>
              <a:t>Passive Threat Detection</a:t>
            </a:r>
          </a:p>
          <a:p>
            <a:pPr algn="l"/>
            <a:r>
              <a:rPr sz="4000" b="1" i="0">
                <a:solidFill>
                  <a:srgbClr val="1B211F"/>
                </a:solidFill>
                <a:latin typeface="Calibri"/>
              </a:rPr>
              <a:t>for Unidirectional IP Traffic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29000"/>
            <a:ext cx="74980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535956"/>
                </a:solidFill>
                <a:latin typeface="Calibri"/>
              </a:rPr>
              <a:t>AI-based detection of cyber threats in traffic mirrored one-way into a critical-infrastructure monitoring enclave, with no path back.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709160"/>
            <a:ext cx="2194560" cy="25400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892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11F"/>
                </a:solidFill>
                <a:latin typeface="Calibri"/>
              </a:rPr>
              <a:t>[Team Name]</a:t>
            </a:r>
            <a:r>
              <a:rPr sz="1400" b="0" i="1">
                <a:solidFill>
                  <a:srgbClr val="8C918D"/>
                </a:solidFill>
                <a:latin typeface="Calibri"/>
              </a:rPr>
              <a:t>   ·   [Institute / College]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5651E"/>
                </a:solidFill>
                <a:latin typeface="Consolas"/>
              </a:rPr>
              <a:t>github.com/Shaik-Aayan-Javed/CyberThreatDetection</a:t>
            </a:r>
          </a:p>
        </p:txBody>
      </p:sp>
      <p:sp>
        <p:nvSpPr>
          <p:cNvPr id="10" name="Oval 9"/>
          <p:cNvSpPr/>
          <p:nvPr/>
        </p:nvSpPr>
        <p:spPr>
          <a:xfrm>
            <a:off x="9829800" y="2377440"/>
            <a:ext cx="777240" cy="777240"/>
          </a:xfrm>
          <a:prstGeom prst="ellipse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TAP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0012680" y="3291840"/>
            <a:ext cx="411480" cy="502920"/>
          </a:xfrm>
          <a:prstGeom prst="downArrow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15400" y="3977639"/>
            <a:ext cx="26060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A565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6809" bIns="76809"/>
          <a:lstStyle/>
          <a:p>
            <a:pPr algn="ctr"/>
            <a:r>
              <a:rPr sz="1300" b="1" i="0">
                <a:solidFill>
                  <a:srgbClr val="1B211F"/>
                </a:solidFill>
                <a:latin typeface="Calibri"/>
              </a:rPr>
              <a:t>MONITOR</a:t>
            </a:r>
          </a:p>
          <a:p>
            <a:pPr algn="ctr"/>
            <a:r>
              <a:rPr sz="1050" b="0" i="1">
                <a:solidFill>
                  <a:srgbClr val="8C918D"/>
                </a:solidFill>
                <a:latin typeface="Calibri"/>
              </a:rPr>
              <a:t>one glass, one way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A5651E"/>
                </a:solidFill>
                <a:latin typeface="Calibri"/>
              </a:rPr>
              <a:t>01 -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211F"/>
                </a:solidFill>
                <a:latin typeface="Calibri"/>
              </a:rPr>
              <a:t>Watching a gateway that must never watch 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89888"/>
            <a:ext cx="11094415" cy="22225"/>
          </a:xfrm>
          <a:prstGeom prst="rect">
            <a:avLst/>
          </a:prstGeom>
          <a:solidFill>
            <a:srgbClr val="E1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384048"/>
            <a:ext cx="1947672" cy="384048"/>
          </a:xfrm>
          <a:prstGeom prst="roundRect">
            <a:avLst>
              <a:gd name="adj" fmla="val 50000"/>
            </a:avLst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Criterion 1 - 10 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B211F"/>
                </a:solidFill>
                <a:latin typeface="Calibri"/>
              </a:rPr>
              <a:t>A nuclear plant's operational network exchanges data with the outside world through a single gateway. Security wants to see everything crossing it, but any monitoring system that can talk back becomes the very attack surface the isolation was built to remove.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80360"/>
            <a:ext cx="11094415" cy="1417320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53619" bIns="153619"/>
          <a:lstStyle/>
          <a:p>
            <a:pPr algn="l"/>
            <a:r>
              <a:rPr sz="1200" b="1" i="0">
                <a:solidFill>
                  <a:srgbClr val="A5651E"/>
                </a:solidFill>
                <a:latin typeface="Calibri"/>
              </a:rPr>
              <a:t>The PS, in one sentence:</a:t>
            </a:r>
          </a:p>
          <a:p>
            <a:pPr algn="l"/>
            <a:r>
              <a:rPr sz="1600" b="0" i="1">
                <a:solidFill>
                  <a:srgbClr val="1B211F"/>
                </a:solidFill>
                <a:latin typeface="Calibri"/>
              </a:rPr>
              <a:t>Detect DDoS, botnet C2, DNS-based attacks, encrypted malware, recon and exfiltration, purely from traffic mirrored one-way into a monitoring enclave, with no path back into the production network.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0916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/>
            <a:r>
              <a:rPr sz="1600" b="1" i="0">
                <a:solidFill>
                  <a:srgbClr val="1B211F"/>
                </a:solidFill>
                <a:latin typeface="Calibri"/>
              </a:rPr>
              <a:t>Zero decryption</a:t>
            </a:r>
          </a:p>
          <a:p>
            <a:pPr algn="l"/>
            <a:r>
              <a:rPr sz="1200" b="0" i="0">
                <a:solidFill>
                  <a:srgbClr val="535956"/>
                </a:solidFill>
                <a:latin typeface="Calibri"/>
              </a:rPr>
              <a:t>payload is never read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709160"/>
            <a:ext cx="38100" cy="1234440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88536" y="470916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/>
            <a:r>
              <a:rPr sz="1600" b="1" i="0">
                <a:solidFill>
                  <a:srgbClr val="1B211F"/>
                </a:solidFill>
                <a:latin typeface="Calibri"/>
              </a:rPr>
              <a:t>Zero return path</a:t>
            </a:r>
          </a:p>
          <a:p>
            <a:pPr algn="l"/>
            <a:r>
              <a:rPr sz="1200" b="0" i="0">
                <a:solidFill>
                  <a:srgbClr val="535956"/>
                </a:solidFill>
                <a:latin typeface="Calibri"/>
              </a:rPr>
              <a:t>no socket in the detection 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88536" y="4709160"/>
            <a:ext cx="38100" cy="1234440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28431" y="470916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/>
            <a:r>
              <a:rPr sz="1600" b="1" i="0">
                <a:solidFill>
                  <a:srgbClr val="1B211F"/>
                </a:solidFill>
                <a:latin typeface="Calibri"/>
              </a:rPr>
              <a:t>Bounded latency</a:t>
            </a:r>
          </a:p>
          <a:p>
            <a:pPr algn="l"/>
            <a:r>
              <a:rPr sz="1200" b="0" i="0">
                <a:solidFill>
                  <a:srgbClr val="535956"/>
                </a:solidFill>
                <a:latin typeface="Calibri"/>
              </a:rPr>
              <a:t>alerts on window close, not end-of-run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28431" y="4709160"/>
            <a:ext cx="38100" cy="1234440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8C918D"/>
                </a:solidFill>
                <a:latin typeface="Calibri"/>
              </a:rPr>
              <a:t>SIH 26145</a:t>
            </a:r>
            <a:r>
              <a:rPr sz="950" b="0" i="0">
                <a:solidFill>
                  <a:srgbClr val="8C918D"/>
                </a:solidFill>
                <a:latin typeface="Calibri"/>
              </a:rPr>
              <a:t>  ·  The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C918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A5651E"/>
                </a:solidFill>
                <a:latin typeface="Calibri"/>
              </a:rPr>
              <a:t>01 -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211F"/>
                </a:solidFill>
                <a:latin typeface="Calibri"/>
              </a:rPr>
              <a:t>Two lists define the whole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89888"/>
            <a:ext cx="11094415" cy="22225"/>
          </a:xfrm>
          <a:prstGeom prst="rect">
            <a:avLst/>
          </a:prstGeom>
          <a:solidFill>
            <a:srgbClr val="E1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384048"/>
            <a:ext cx="1947672" cy="384048"/>
          </a:xfrm>
          <a:prstGeom prst="roundRect">
            <a:avLst>
              <a:gd name="adj" fmla="val 50000"/>
            </a:avLst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Criterion 1 - 10 pts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349240" cy="457200"/>
          </a:xfrm>
          <a:prstGeom prst="roundRect">
            <a:avLst>
              <a:gd name="adj" fmla="val 8000"/>
            </a:avLst>
          </a:prstGeom>
          <a:solidFill>
            <a:srgbClr val="1B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6809" bIns="76809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 architectural constraints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67712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11F"/>
                </a:solidFill>
                <a:latin typeface="Calibri"/>
              </a:rPr>
              <a:t>Read-only ingest  </a:t>
            </a:r>
            <a:r>
              <a:rPr sz="1150" b="0" i="1">
                <a:solidFill>
                  <a:srgbClr val="535956"/>
                </a:solidFill>
                <a:latin typeface="Calibri"/>
              </a:rPr>
              <a:t>no physical or protocol path back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852928"/>
            <a:ext cx="384048" cy="384048"/>
          </a:xfrm>
          <a:prstGeom prst="ellipse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11F"/>
                </a:solidFill>
                <a:latin typeface="Calibri"/>
              </a:rPr>
              <a:t>No payload decryption  </a:t>
            </a:r>
            <a:r>
              <a:rPr sz="1150" b="0" i="1">
                <a:solidFill>
                  <a:srgbClr val="535956"/>
                </a:solidFill>
                <a:latin typeface="Calibri"/>
              </a:rPr>
              <a:t>detection stops at headers + DNS query name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19856"/>
            <a:ext cx="384048" cy="384048"/>
          </a:xfrm>
          <a:prstGeom prst="ellipse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401568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11F"/>
                </a:solidFill>
                <a:latin typeface="Calibri"/>
              </a:rPr>
              <a:t>Streaming, not batch  </a:t>
            </a:r>
            <a:r>
              <a:rPr sz="1150" b="0" i="1">
                <a:solidFill>
                  <a:srgbClr val="535956"/>
                </a:solidFill>
                <a:latin typeface="Calibri"/>
              </a:rPr>
              <a:t>alerts on window close, bounded latency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986784"/>
            <a:ext cx="384048" cy="384048"/>
          </a:xfrm>
          <a:prstGeom prst="ellipse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968496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11F"/>
                </a:solidFill>
                <a:latin typeface="Calibri"/>
              </a:rPr>
              <a:t>Defined throughput target  </a:t>
            </a:r>
            <a:r>
              <a:rPr sz="1150" b="0" i="1">
                <a:solidFill>
                  <a:srgbClr val="535956"/>
                </a:solidFill>
                <a:latin typeface="Calibri"/>
              </a:rPr>
              <a:t>flows/sec or Mbps, stated and measured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553712"/>
            <a:ext cx="384048" cy="384048"/>
          </a:xfrm>
          <a:prstGeom prst="ellipse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35424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11F"/>
                </a:solidFill>
                <a:latin typeface="Calibri"/>
              </a:rPr>
              <a:t>Standardised alert schema  </a:t>
            </a:r>
            <a:r>
              <a:rPr sz="1150" b="0" i="1">
                <a:solidFill>
                  <a:srgbClr val="535956"/>
                </a:solidFill>
                <a:latin typeface="Calibri"/>
              </a:rPr>
              <a:t>timestamp, flow id, class, confidence, 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691640"/>
            <a:ext cx="5468112" cy="457200"/>
          </a:xfrm>
          <a:prstGeom prst="roundRect">
            <a:avLst>
              <a:gd name="adj" fmla="val 8000"/>
            </a:avLst>
          </a:prstGeom>
          <a:solidFill>
            <a:srgbClr val="1B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6809" bIns="76809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 threat classes</a:t>
            </a:r>
          </a:p>
        </p:txBody>
      </p:sp>
      <p:sp>
        <p:nvSpPr>
          <p:cNvPr id="18" name="Oval 17"/>
          <p:cNvSpPr/>
          <p:nvPr/>
        </p:nvSpPr>
        <p:spPr>
          <a:xfrm>
            <a:off x="6172200" y="2286000"/>
            <a:ext cx="384048" cy="384048"/>
          </a:xfrm>
          <a:prstGeom prst="ellipse">
            <a:avLst/>
          </a:prstGeom>
          <a:solidFill>
            <a:srgbClr val="2B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267712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11F"/>
                </a:solidFill>
                <a:latin typeface="Calibri"/>
              </a:rPr>
              <a:t>Volumetric / protocol DDoS</a:t>
            </a:r>
          </a:p>
        </p:txBody>
      </p:sp>
      <p:sp>
        <p:nvSpPr>
          <p:cNvPr id="20" name="Oval 19"/>
          <p:cNvSpPr/>
          <p:nvPr/>
        </p:nvSpPr>
        <p:spPr>
          <a:xfrm>
            <a:off x="6172200" y="2852928"/>
            <a:ext cx="384048" cy="384048"/>
          </a:xfrm>
          <a:prstGeom prst="ellipse">
            <a:avLst/>
          </a:prstGeom>
          <a:solidFill>
            <a:srgbClr val="2B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834640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11F"/>
                </a:solidFill>
                <a:latin typeface="Calibri"/>
              </a:rPr>
              <a:t>Botnet C2 beaconing</a:t>
            </a:r>
          </a:p>
        </p:txBody>
      </p:sp>
      <p:sp>
        <p:nvSpPr>
          <p:cNvPr id="22" name="Oval 21"/>
          <p:cNvSpPr/>
          <p:nvPr/>
        </p:nvSpPr>
        <p:spPr>
          <a:xfrm>
            <a:off x="6172200" y="3419856"/>
            <a:ext cx="384048" cy="384048"/>
          </a:xfrm>
          <a:prstGeom prst="ellipse">
            <a:avLst/>
          </a:prstGeom>
          <a:solidFill>
            <a:srgbClr val="2B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401568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11F"/>
                </a:solidFill>
                <a:latin typeface="Calibri"/>
              </a:rPr>
              <a:t>DGA domains + DNS tunnelling</a:t>
            </a:r>
          </a:p>
        </p:txBody>
      </p:sp>
      <p:sp>
        <p:nvSpPr>
          <p:cNvPr id="24" name="Oval 23"/>
          <p:cNvSpPr/>
          <p:nvPr/>
        </p:nvSpPr>
        <p:spPr>
          <a:xfrm>
            <a:off x="6172200" y="3986784"/>
            <a:ext cx="384048" cy="384048"/>
          </a:xfrm>
          <a:prstGeom prst="ellipse">
            <a:avLst/>
          </a:prstGeom>
          <a:solidFill>
            <a:srgbClr val="2B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3968496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11F"/>
                </a:solidFill>
                <a:latin typeface="Calibri"/>
              </a:rPr>
              <a:t>Malware in encrypted sessions</a:t>
            </a:r>
          </a:p>
        </p:txBody>
      </p:sp>
      <p:sp>
        <p:nvSpPr>
          <p:cNvPr id="26" name="Oval 25"/>
          <p:cNvSpPr/>
          <p:nvPr/>
        </p:nvSpPr>
        <p:spPr>
          <a:xfrm>
            <a:off x="6172200" y="4553712"/>
            <a:ext cx="384048" cy="384048"/>
          </a:xfrm>
          <a:prstGeom prst="ellipse">
            <a:avLst/>
          </a:prstGeom>
          <a:solidFill>
            <a:srgbClr val="2B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535424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11F"/>
                </a:solidFill>
                <a:latin typeface="Calibri"/>
              </a:rPr>
              <a:t>Recon / port scanning</a:t>
            </a:r>
          </a:p>
        </p:txBody>
      </p:sp>
      <p:sp>
        <p:nvSpPr>
          <p:cNvPr id="28" name="Oval 27"/>
          <p:cNvSpPr/>
          <p:nvPr/>
        </p:nvSpPr>
        <p:spPr>
          <a:xfrm>
            <a:off x="6172200" y="5120640"/>
            <a:ext cx="384048" cy="384048"/>
          </a:xfrm>
          <a:prstGeom prst="ellipse">
            <a:avLst/>
          </a:prstGeom>
          <a:solidFill>
            <a:srgbClr val="2B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102352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11F"/>
                </a:solidFill>
                <a:latin typeface="Calibri"/>
              </a:rPr>
              <a:t>Data exfiltration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17220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8C918D"/>
                </a:solidFill>
                <a:latin typeface="Calibri"/>
              </a:rPr>
              <a:t>Every design decision in this prototype traces back to one of these eleven lines.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8C918D"/>
                </a:solidFill>
                <a:latin typeface="Calibri"/>
              </a:rPr>
              <a:t>SIH 26145</a:t>
            </a:r>
            <a:r>
              <a:rPr sz="950" b="0" i="0">
                <a:solidFill>
                  <a:srgbClr val="8C918D"/>
                </a:solidFill>
                <a:latin typeface="Calibri"/>
              </a:rPr>
              <a:t>  ·  Understanding the 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C918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A5651E"/>
                </a:solidFill>
                <a:latin typeface="Calibri"/>
              </a:rP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B211F"/>
                </a:solidFill>
                <a:latin typeface="Calibri"/>
              </a:rPr>
              <a:t>One mirrored copy in. Nothing else crosses the 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89888"/>
            <a:ext cx="11094415" cy="22225"/>
          </a:xfrm>
          <a:prstGeom prst="rect">
            <a:avLst/>
          </a:prstGeom>
          <a:solidFill>
            <a:srgbClr val="E1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86000" y="1737360"/>
            <a:ext cx="7616952" cy="777240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6809" bIns="76809"/>
          <a:lstStyle/>
          <a:p>
            <a:pPr algn="ctr"/>
            <a:r>
              <a:rPr sz="1900" b="1" i="0">
                <a:solidFill>
                  <a:srgbClr val="1B211F"/>
                </a:solidFill>
                <a:latin typeface="Calibri"/>
              </a:rPr>
              <a:t>Production Network   </a:t>
            </a:r>
            <a:r>
              <a:rPr sz="1900" b="1" i="0">
                <a:solidFill>
                  <a:srgbClr val="2B6E6B"/>
                </a:solidFill>
                <a:latin typeface="Calibri"/>
              </a:rPr>
              <a:t>&lt;-&gt;</a:t>
            </a:r>
            <a:r>
              <a:rPr sz="1900" b="1" i="0">
                <a:solidFill>
                  <a:srgbClr val="1B211F"/>
                </a:solidFill>
                <a:latin typeface="Calibri"/>
              </a:rPr>
              <a:t>   Internet / Corporate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542032"/>
            <a:ext cx="7616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8C918D"/>
                </a:solidFill>
                <a:latin typeface="Calibri"/>
              </a:rPr>
              <a:t>ordinary two-way traffic on the gateway link</a:t>
            </a:r>
          </a:p>
        </p:txBody>
      </p:sp>
      <p:sp>
        <p:nvSpPr>
          <p:cNvPr id="7" name="Rectangle 6"/>
          <p:cNvSpPr/>
          <p:nvPr/>
        </p:nvSpPr>
        <p:spPr>
          <a:xfrm>
            <a:off x="6007608" y="2834640"/>
            <a:ext cx="25400" cy="320040"/>
          </a:xfrm>
          <a:prstGeom prst="rect">
            <a:avLst/>
          </a:prstGeom>
          <a:solidFill>
            <a:srgbClr val="5359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14416" y="3127248"/>
            <a:ext cx="841248" cy="841248"/>
          </a:xfrm>
          <a:prstGeom prst="ellipse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TAP</a:t>
            </a:r>
          </a:p>
        </p:txBody>
      </p:sp>
      <p:sp>
        <p:nvSpPr>
          <p:cNvPr id="9" name="Down Arrow 8"/>
          <p:cNvSpPr/>
          <p:nvPr/>
        </p:nvSpPr>
        <p:spPr>
          <a:xfrm>
            <a:off x="5806440" y="4069080"/>
            <a:ext cx="457200" cy="502920"/>
          </a:xfrm>
          <a:prstGeom prst="downArrow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4114800"/>
            <a:ext cx="3840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A5651E"/>
                </a:solidFill>
                <a:latin typeface="Calibri"/>
              </a:rPr>
              <a:t>one-way copy</a:t>
            </a:r>
          </a:p>
          <a:p>
            <a:pPr algn="l"/>
            <a:r>
              <a:rPr sz="1150" b="0" i="1">
                <a:solidFill>
                  <a:srgbClr val="8C918D"/>
                </a:solidFill>
                <a:latin typeface="Calibri"/>
              </a:rPr>
              <a:t>mirror / data diode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4709160"/>
            <a:ext cx="7616952" cy="960120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9050">
            <a:solidFill>
              <a:srgbClr val="A565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6809" bIns="76809"/>
          <a:lstStyle/>
          <a:p>
            <a:pPr algn="ctr"/>
            <a:r>
              <a:rPr sz="1900" b="1" i="0">
                <a:solidFill>
                  <a:srgbClr val="1B211F"/>
                </a:solidFill>
                <a:latin typeface="Calibri"/>
              </a:rPr>
              <a:t>Monitoring Enclave</a:t>
            </a:r>
          </a:p>
          <a:p>
            <a:pPr algn="ctr"/>
            <a:r>
              <a:rPr sz="1200" b="0" i="0">
                <a:solidFill>
                  <a:srgbClr val="535956"/>
                </a:solidFill>
                <a:latin typeface="Consolas"/>
              </a:rPr>
              <a:t>capture  -&gt;  detection  -&gt;  dashboard (loopback-only)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32520" y="4709160"/>
            <a:ext cx="31750" cy="777240"/>
          </a:xfrm>
          <a:prstGeom prst="rect">
            <a:avLst/>
          </a:prstGeom>
          <a:solidFill>
            <a:srgbClr val="A13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470916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13349"/>
                </a:solidFill>
                <a:latin typeface="Calibri"/>
              </a:rPr>
              <a:t>X</a:t>
            </a:r>
          </a:p>
          <a:p>
            <a:pPr algn="l"/>
            <a:r>
              <a:rPr sz="1150" b="1" i="0">
                <a:solidFill>
                  <a:srgbClr val="A13349"/>
                </a:solidFill>
                <a:latin typeface="Calibri"/>
              </a:rPr>
              <a:t>no return path</a:t>
            </a:r>
          </a:p>
          <a:p>
            <a:pPr algn="l"/>
            <a:r>
              <a:rPr sz="1050" b="0" i="1">
                <a:solidFill>
                  <a:srgbClr val="A13349"/>
                </a:solidFill>
                <a:latin typeface="Calibri"/>
              </a:rPr>
              <a:t>physically absent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8076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35956"/>
                </a:solidFill>
                <a:latin typeface="Calibri"/>
              </a:rPr>
              <a:t>Every arrow above points away from the monitored network. There is no return edge.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8C918D"/>
                </a:solidFill>
                <a:latin typeface="Calibri"/>
              </a:rPr>
              <a:t>SIH 26145</a:t>
            </a:r>
            <a:r>
              <a:rPr sz="950" b="0" i="0">
                <a:solidFill>
                  <a:srgbClr val="8C918D"/>
                </a:solidFill>
                <a:latin typeface="Calibri"/>
              </a:rPr>
              <a:t>  ·  Proposed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C918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A5651E"/>
                </a:solidFill>
                <a:latin typeface="Calibr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211F"/>
                </a:solidFill>
                <a:latin typeface="Calibri"/>
              </a:rPr>
              <a:t>How a packet becomes an alert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89888"/>
            <a:ext cx="11094415" cy="22225"/>
          </a:xfrm>
          <a:prstGeom prst="rect">
            <a:avLst/>
          </a:prstGeom>
          <a:solidFill>
            <a:srgbClr val="E1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606040"/>
            <a:ext cx="1371600" cy="1600200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/>
            <a:r>
              <a:rPr sz="1100" b="1" i="0">
                <a:solidFill>
                  <a:srgbClr val="A5651E"/>
                </a:solidFill>
                <a:latin typeface="Calibri"/>
              </a:rPr>
              <a:t>1</a:t>
            </a:r>
          </a:p>
          <a:p>
            <a:pPr algn="ctr"/>
            <a:r>
              <a:rPr sz="1600" b="1" i="0">
                <a:solidFill>
                  <a:srgbClr val="1B211F"/>
                </a:solidFill>
                <a:latin typeface="Calibri"/>
              </a:rPr>
              <a:t>Packets</a:t>
            </a:r>
          </a:p>
          <a:p>
            <a:pPr algn="ctr"/>
            <a:r>
              <a:rPr sz="1100" b="0" i="0">
                <a:solidFill>
                  <a:srgbClr val="535956"/>
                </a:solidFill>
                <a:latin typeface="Calibri"/>
              </a:rPr>
              <a:t>capture, in order</a:t>
            </a:r>
          </a:p>
          <a:p>
            <a:pPr algn="ctr"/>
            <a:r>
              <a:rPr sz="950" b="0" i="1">
                <a:solidFill>
                  <a:srgbClr val="8C918D"/>
                </a:solidFill>
                <a:latin typeface="Consolas"/>
              </a:rPr>
              <a:t>ingest/reader.py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06040"/>
            <a:ext cx="1371600" cy="38100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2048256" y="3323844"/>
            <a:ext cx="274320" cy="310896"/>
          </a:xfrm>
          <a:prstGeom prst="rightArrow">
            <a:avLst/>
          </a:prstGeom>
          <a:solidFill>
            <a:srgbClr val="8C9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50592" y="2606040"/>
            <a:ext cx="1371600" cy="1600200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/>
            <a:r>
              <a:rPr sz="1100" b="1" i="0">
                <a:solidFill>
                  <a:srgbClr val="A5651E"/>
                </a:solidFill>
                <a:latin typeface="Calibri"/>
              </a:rPr>
              <a:t>2</a:t>
            </a:r>
          </a:p>
          <a:p>
            <a:pPr algn="ctr"/>
            <a:r>
              <a:rPr sz="1600" b="1" i="0">
                <a:solidFill>
                  <a:srgbClr val="1B211F"/>
                </a:solidFill>
                <a:latin typeface="Calibri"/>
              </a:rPr>
              <a:t>Flows</a:t>
            </a:r>
          </a:p>
          <a:p>
            <a:pPr algn="ctr"/>
            <a:r>
              <a:rPr sz="1100" b="0" i="0">
                <a:solidFill>
                  <a:srgbClr val="535956"/>
                </a:solidFill>
                <a:latin typeface="Calibri"/>
              </a:rPr>
              <a:t>5-tuple table</a:t>
            </a:r>
          </a:p>
          <a:p>
            <a:pPr algn="ctr"/>
            <a:r>
              <a:rPr sz="950" b="0" i="1">
                <a:solidFill>
                  <a:srgbClr val="8C918D"/>
                </a:solidFill>
                <a:latin typeface="Consolas"/>
              </a:rPr>
              <a:t>ingest/flows.py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2450592" y="2606040"/>
            <a:ext cx="1371600" cy="38100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3950208" y="3323844"/>
            <a:ext cx="274320" cy="310896"/>
          </a:xfrm>
          <a:prstGeom prst="rightArrow">
            <a:avLst/>
          </a:prstGeom>
          <a:solidFill>
            <a:srgbClr val="8C9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52544" y="2606040"/>
            <a:ext cx="1371600" cy="1600200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/>
            <a:r>
              <a:rPr sz="1100" b="1" i="0">
                <a:solidFill>
                  <a:srgbClr val="A5651E"/>
                </a:solidFill>
                <a:latin typeface="Calibri"/>
              </a:rPr>
              <a:t>3</a:t>
            </a:r>
          </a:p>
          <a:p>
            <a:pPr algn="ctr"/>
            <a:r>
              <a:rPr sz="1600" b="1" i="0">
                <a:solidFill>
                  <a:srgbClr val="1B211F"/>
                </a:solidFill>
                <a:latin typeface="Calibri"/>
              </a:rPr>
              <a:t>Window</a:t>
            </a:r>
          </a:p>
          <a:p>
            <a:pPr algn="ctr"/>
            <a:r>
              <a:rPr sz="1100" b="0" i="0">
                <a:solidFill>
                  <a:srgbClr val="535956"/>
                </a:solidFill>
                <a:latin typeface="Calibri"/>
              </a:rPr>
              <a:t>5-second snapshot</a:t>
            </a:r>
          </a:p>
          <a:p>
            <a:pPr algn="ctr"/>
            <a:r>
              <a:rPr sz="950" b="0" i="1">
                <a:solidFill>
                  <a:srgbClr val="8C918D"/>
                </a:solidFill>
                <a:latin typeface="Consolas"/>
              </a:rPr>
              <a:t>features/extract.py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2544" y="2606040"/>
            <a:ext cx="1371600" cy="38100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5852160" y="3323844"/>
            <a:ext cx="274320" cy="310896"/>
          </a:xfrm>
          <a:prstGeom prst="rightArrow">
            <a:avLst/>
          </a:prstGeom>
          <a:solidFill>
            <a:srgbClr val="8C9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54496" y="2606040"/>
            <a:ext cx="1371600" cy="1600200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/>
            <a:r>
              <a:rPr sz="1100" b="1" i="0">
                <a:solidFill>
                  <a:srgbClr val="A5651E"/>
                </a:solidFill>
                <a:latin typeface="Calibri"/>
              </a:rPr>
              <a:t>4</a:t>
            </a:r>
          </a:p>
          <a:p>
            <a:pPr algn="ctr"/>
            <a:r>
              <a:rPr sz="1600" b="1" i="0">
                <a:solidFill>
                  <a:srgbClr val="1B211F"/>
                </a:solidFill>
                <a:latin typeface="Calibri"/>
              </a:rPr>
              <a:t>Features</a:t>
            </a:r>
          </a:p>
          <a:p>
            <a:pPr algn="ctr"/>
            <a:r>
              <a:rPr sz="1100" b="0" i="0">
                <a:solidFill>
                  <a:srgbClr val="535956"/>
                </a:solidFill>
                <a:latin typeface="Calibri"/>
              </a:rPr>
              <a:t>per-host vectors</a:t>
            </a:r>
          </a:p>
          <a:p>
            <a:pPr algn="ctr"/>
            <a:r>
              <a:rPr sz="950" b="0" i="1">
                <a:solidFill>
                  <a:srgbClr val="8C918D"/>
                </a:solidFill>
                <a:latin typeface="Consolas"/>
              </a:rPr>
              <a:t>features/baseline.py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4496" y="2606040"/>
            <a:ext cx="1371600" cy="38100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7754112" y="3323844"/>
            <a:ext cx="274320" cy="310896"/>
          </a:xfrm>
          <a:prstGeom prst="rightArrow">
            <a:avLst/>
          </a:prstGeom>
          <a:solidFill>
            <a:srgbClr val="8C9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56448" y="2606040"/>
            <a:ext cx="1371600" cy="1600200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/>
            <a:r>
              <a:rPr sz="1100" b="1" i="0">
                <a:solidFill>
                  <a:srgbClr val="A5651E"/>
                </a:solidFill>
                <a:latin typeface="Calibri"/>
              </a:rPr>
              <a:t>5</a:t>
            </a:r>
          </a:p>
          <a:p>
            <a:pPr algn="ctr"/>
            <a:r>
              <a:rPr sz="1600" b="1" i="0">
                <a:solidFill>
                  <a:srgbClr val="1B211F"/>
                </a:solidFill>
                <a:latin typeface="Calibri"/>
              </a:rPr>
              <a:t>Detectors</a:t>
            </a:r>
          </a:p>
          <a:p>
            <a:pPr algn="ctr"/>
            <a:r>
              <a:rPr sz="1100" b="0" i="0">
                <a:solidFill>
                  <a:srgbClr val="535956"/>
                </a:solidFill>
                <a:latin typeface="Calibri"/>
              </a:rPr>
              <a:t>5 rules + 1 model</a:t>
            </a:r>
          </a:p>
          <a:p>
            <a:pPr algn="ctr"/>
            <a:r>
              <a:rPr sz="950" b="0" i="1">
                <a:solidFill>
                  <a:srgbClr val="8C918D"/>
                </a:solidFill>
                <a:latin typeface="Consolas"/>
              </a:rPr>
              <a:t>detectors/*.py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56448" y="2606040"/>
            <a:ext cx="1371600" cy="38100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9656064" y="3323844"/>
            <a:ext cx="274320" cy="310896"/>
          </a:xfrm>
          <a:prstGeom prst="rightArrow">
            <a:avLst/>
          </a:prstGeom>
          <a:solidFill>
            <a:srgbClr val="8C9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58400" y="2606040"/>
            <a:ext cx="1371600" cy="1600200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/>
            <a:r>
              <a:rPr sz="1100" b="1" i="0">
                <a:solidFill>
                  <a:srgbClr val="A5651E"/>
                </a:solidFill>
                <a:latin typeface="Calibri"/>
              </a:rPr>
              <a:t>6</a:t>
            </a:r>
          </a:p>
          <a:p>
            <a:pPr algn="ctr"/>
            <a:r>
              <a:rPr sz="1600" b="1" i="0">
                <a:solidFill>
                  <a:srgbClr val="1B211F"/>
                </a:solidFill>
                <a:latin typeface="Calibri"/>
              </a:rPr>
              <a:t>Alert</a:t>
            </a:r>
          </a:p>
          <a:p>
            <a:pPr algn="ctr"/>
            <a:r>
              <a:rPr sz="1100" b="0" i="0">
                <a:solidFill>
                  <a:srgbClr val="535956"/>
                </a:solidFill>
                <a:latin typeface="Calibri"/>
              </a:rPr>
              <a:t>structured JSON</a:t>
            </a:r>
          </a:p>
          <a:p>
            <a:pPr algn="ctr"/>
            <a:r>
              <a:rPr sz="950" b="0" i="1">
                <a:solidFill>
                  <a:srgbClr val="8C918D"/>
                </a:solidFill>
                <a:latin typeface="Consolas"/>
              </a:rPr>
              <a:t>alerts/schema.py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0" y="2606040"/>
            <a:ext cx="1371600" cy="38100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709160"/>
            <a:ext cx="110916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B211F"/>
                </a:solidFill>
                <a:latin typeface="Calibri"/>
              </a:rPr>
              <a:t>The single design decision that made three days of work: detectors are stateful window consumers from the first line of code, so batch-to-streaming was never a rewrite.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532120"/>
            <a:ext cx="11091672" cy="868680"/>
          </a:xfrm>
          <a:prstGeom prst="roundRect">
            <a:avLst>
              <a:gd name="adj" fmla="val 8000"/>
            </a:avLst>
          </a:prstGeom>
          <a:solidFill>
            <a:srgbClr val="F2E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/>
            <a:r>
              <a:rPr sz="1300" b="0" i="0">
                <a:solidFill>
                  <a:srgbClr val="1B211F"/>
                </a:solidFill>
                <a:latin typeface="Calibri"/>
              </a:rPr>
              <a:t>Confidence is computed, not chosen, from observed/threshold ratios, compounded so independent signals corroborate each other. No detector contains a hardcoded confidence value.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8C918D"/>
                </a:solidFill>
                <a:latin typeface="Calibri"/>
              </a:rPr>
              <a:t>SIH 26145</a:t>
            </a:r>
            <a:r>
              <a:rPr sz="950" b="0" i="0">
                <a:solidFill>
                  <a:srgbClr val="8C918D"/>
                </a:solidFill>
                <a:latin typeface="Calibri"/>
              </a:rPr>
              <a:t>  ·  How It 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C918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A5651E"/>
                </a:solidFill>
                <a:latin typeface="Calibri"/>
              </a:rPr>
              <a:t>DETECTION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211F"/>
                </a:solidFill>
                <a:latin typeface="Calibri"/>
              </a:rPr>
              <a:t>Six signals a threat shows in the traffic shape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89888"/>
            <a:ext cx="11094415" cy="22225"/>
          </a:xfrm>
          <a:prstGeom prst="rect">
            <a:avLst/>
          </a:prstGeom>
          <a:solidFill>
            <a:srgbClr val="E1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547872" cy="2084831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/>
            <a:r>
              <a:rPr sz="1600" b="1" i="0">
                <a:solidFill>
                  <a:srgbClr val="1B211F"/>
                </a:solidFill>
                <a:latin typeface="Consolas"/>
              </a:rPr>
              <a:t>SYN_FLOOD</a:t>
            </a:r>
          </a:p>
          <a:p>
            <a:pPr algn="l"/>
            <a:r>
              <a:rPr sz="1200" b="0" i="0">
                <a:solidFill>
                  <a:srgbClr val="535956"/>
                </a:solidFill>
                <a:latin typeface="Calibri"/>
              </a:rPr>
              <a:t>SYN rate vs learned baseline, completion ratio near 0, source-IP entropy</a:t>
            </a:r>
          </a:p>
          <a:p>
            <a:pPr algn="l"/>
            <a:r>
              <a:rPr sz="1000" b="0" i="1">
                <a:solidFill>
                  <a:srgbClr val="8C918D"/>
                </a:solidFill>
                <a:latin typeface="Consolas"/>
              </a:rPr>
              <a:t>detectors/synflood.py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38100" cy="2084831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20540" y="1691640"/>
            <a:ext cx="3547872" cy="2084831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/>
            <a:r>
              <a:rPr sz="1600" b="1" i="0">
                <a:solidFill>
                  <a:srgbClr val="1B211F"/>
                </a:solidFill>
                <a:latin typeface="Consolas"/>
              </a:rPr>
              <a:t>PORT_SCAN</a:t>
            </a:r>
          </a:p>
          <a:p>
            <a:pPr algn="l"/>
            <a:r>
              <a:rPr sz="1200" b="0" i="0">
                <a:solidFill>
                  <a:srgbClr val="535956"/>
                </a:solidFill>
                <a:latin typeface="Calibri"/>
              </a:rPr>
              <a:t>Port + host fan-out from one source, RST ratio, sequential-port runs</a:t>
            </a:r>
          </a:p>
          <a:p>
            <a:pPr algn="l"/>
            <a:r>
              <a:rPr sz="1000" b="0" i="1">
                <a:solidFill>
                  <a:srgbClr val="8C918D"/>
                </a:solidFill>
                <a:latin typeface="Consolas"/>
              </a:rPr>
              <a:t>detectors/portscan.py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540" y="1691640"/>
            <a:ext cx="38100" cy="2084831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92440" y="1691640"/>
            <a:ext cx="3547872" cy="2084831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/>
            <a:r>
              <a:rPr sz="1600" b="1" i="0">
                <a:solidFill>
                  <a:srgbClr val="1B211F"/>
                </a:solidFill>
                <a:latin typeface="Consolas"/>
              </a:rPr>
              <a:t>C2_BEACON</a:t>
            </a:r>
          </a:p>
          <a:p>
            <a:pPr algn="l"/>
            <a:r>
              <a:rPr sz="1200" b="0" i="0">
                <a:solidFill>
                  <a:srgbClr val="535956"/>
                </a:solidFill>
                <a:latin typeface="Calibri"/>
              </a:rPr>
              <a:t>Coefficient of variation of inter-arrival times under 0.15</a:t>
            </a:r>
          </a:p>
          <a:p>
            <a:pPr algn="l"/>
            <a:r>
              <a:rPr sz="1000" b="0" i="1">
                <a:solidFill>
                  <a:srgbClr val="8C918D"/>
                </a:solidFill>
                <a:latin typeface="Consolas"/>
              </a:rPr>
              <a:t>detectors/beacon.py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1691640"/>
            <a:ext cx="38100" cy="2084831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904487"/>
            <a:ext cx="3547872" cy="2084831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/>
            <a:r>
              <a:rPr sz="1600" b="1" i="0">
                <a:solidFill>
                  <a:srgbClr val="1B211F"/>
                </a:solidFill>
                <a:latin typeface="Consolas"/>
              </a:rPr>
              <a:t>DNS_ANOMALY</a:t>
            </a:r>
          </a:p>
          <a:p>
            <a:pPr algn="l"/>
            <a:r>
              <a:rPr sz="1200" b="0" i="0">
                <a:solidFill>
                  <a:srgbClr val="535956"/>
                </a:solidFill>
                <a:latin typeface="Calibri"/>
              </a:rPr>
              <a:t>QNAME entropy + bigram, subdomain volume, label length, record type</a:t>
            </a:r>
          </a:p>
          <a:p>
            <a:pPr algn="l"/>
            <a:r>
              <a:rPr sz="1000" b="0" i="1">
                <a:solidFill>
                  <a:srgbClr val="8C918D"/>
                </a:solidFill>
                <a:latin typeface="Consolas"/>
              </a:rPr>
              <a:t>detectors/dns.py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04487"/>
            <a:ext cx="38100" cy="2084831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20540" y="3904487"/>
            <a:ext cx="3547872" cy="2084831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/>
            <a:r>
              <a:rPr sz="1600" b="1" i="0">
                <a:solidFill>
                  <a:srgbClr val="1B211F"/>
                </a:solidFill>
                <a:latin typeface="Consolas"/>
              </a:rPr>
              <a:t>EXFIL</a:t>
            </a:r>
          </a:p>
          <a:p>
            <a:pPr algn="l"/>
            <a:r>
              <a:rPr sz="1200" b="0" i="0">
                <a:solidFill>
                  <a:srgbClr val="535956"/>
                </a:solidFill>
                <a:latin typeface="Calibri"/>
              </a:rPr>
              <a:t>Outbound:inbound byte ratio over 8x, sustained 20s+</a:t>
            </a:r>
          </a:p>
          <a:p>
            <a:pPr algn="l"/>
            <a:r>
              <a:rPr sz="1000" b="0" i="1">
                <a:solidFill>
                  <a:srgbClr val="8C918D"/>
                </a:solidFill>
                <a:latin typeface="Consolas"/>
              </a:rPr>
              <a:t>detectors/exfil.py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540" y="3904487"/>
            <a:ext cx="38100" cy="2084831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92440" y="3904487"/>
            <a:ext cx="3547872" cy="2084831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/>
            <a:r>
              <a:rPr sz="1600" b="1" i="0">
                <a:solidFill>
                  <a:srgbClr val="1B211F"/>
                </a:solidFill>
                <a:latin typeface="Consolas"/>
              </a:rPr>
              <a:t>ANOMALOUS_FLOW</a:t>
            </a:r>
          </a:p>
          <a:p>
            <a:pPr algn="l"/>
            <a:r>
              <a:rPr sz="1200" b="0" i="0">
                <a:solidFill>
                  <a:srgbClr val="535956"/>
                </a:solidFill>
                <a:latin typeface="Calibri"/>
              </a:rPr>
              <a:t>IsolationForest, 10 features/host/window, trained on benign only</a:t>
            </a:r>
          </a:p>
          <a:p>
            <a:pPr algn="l"/>
            <a:r>
              <a:rPr sz="1000" b="0" i="1">
                <a:solidFill>
                  <a:srgbClr val="8C918D"/>
                </a:solidFill>
                <a:latin typeface="Consolas"/>
              </a:rPr>
              <a:t>detectors/anomaly.py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3904487"/>
            <a:ext cx="38100" cy="2084831"/>
          </a:xfrm>
          <a:prstGeom prst="rect">
            <a:avLst/>
          </a:prstGeom>
          <a:solidFill>
            <a:srgbClr val="2B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8C918D"/>
                </a:solidFill>
                <a:latin typeface="Calibri"/>
              </a:rPr>
              <a:t>SIH 26145</a:t>
            </a:r>
            <a:r>
              <a:rPr sz="950" b="0" i="0">
                <a:solidFill>
                  <a:srgbClr val="8C918D"/>
                </a:solidFill>
                <a:latin typeface="Calibri"/>
              </a:rPr>
              <a:t>  ·  Detection Surface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C918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A5651E"/>
                </a:solidFill>
                <a:latin typeface="Calibri"/>
              </a:rPr>
              <a:t>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211F"/>
                </a:solidFill>
                <a:latin typeface="Calibri"/>
              </a:rPr>
              <a:t>Proven four ways. Not asserted on a slide.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89888"/>
            <a:ext cx="11094415" cy="22225"/>
          </a:xfrm>
          <a:prstGeom prst="rect">
            <a:avLst/>
          </a:prstGeom>
          <a:solidFill>
            <a:srgbClr val="E1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384048"/>
            <a:ext cx="1947672" cy="384048"/>
          </a:xfrm>
          <a:prstGeom prst="roundRect">
            <a:avLst>
              <a:gd name="adj" fmla="val 50000"/>
            </a:avLst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Criterion 2 - 15 pts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874519"/>
            <a:ext cx="23317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11F"/>
                </a:solidFill>
                <a:latin typeface="Calibri"/>
              </a:rPr>
              <a:t>Static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874519"/>
            <a:ext cx="4434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35956"/>
                </a:solidFill>
                <a:latin typeface="Calibri"/>
              </a:rPr>
              <a:t>Every detection-path module AST-parsed; rejects networking/subprocess imports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947672"/>
            <a:ext cx="3319272" cy="813816"/>
          </a:xfrm>
          <a:prstGeom prst="roundRect">
            <a:avLst>
              <a:gd name="adj" fmla="val 8000"/>
            </a:avLst>
          </a:prstGeom>
          <a:solidFill>
            <a:srgbClr val="DE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6809" bIns="76809"/>
          <a:lstStyle/>
          <a:p>
            <a:pPr algn="ctr"/>
            <a:r>
              <a:rPr sz="1200" b="1" i="0">
                <a:solidFill>
                  <a:srgbClr val="2B6E6B"/>
                </a:solidFill>
                <a:latin typeface="Calibri"/>
              </a:rPr>
              <a:t>17 / 17 files clean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52927"/>
            <a:ext cx="11094415" cy="9525"/>
          </a:xfrm>
          <a:prstGeom prst="rect">
            <a:avLst/>
          </a:prstGeom>
          <a:solidFill>
            <a:srgbClr val="E1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71800"/>
            <a:ext cx="23317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11F"/>
                </a:solidFill>
                <a:latin typeface="Calibri"/>
              </a:rPr>
              <a:t>Runtime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971800"/>
            <a:ext cx="4434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35956"/>
                </a:solidFill>
                <a:latin typeface="Calibri"/>
              </a:rPr>
              <a:t>Real capture replayed with socket.socket() poisoned to raise on construction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3044952"/>
            <a:ext cx="3319272" cy="813816"/>
          </a:xfrm>
          <a:prstGeom prst="roundRect">
            <a:avLst>
              <a:gd name="adj" fmla="val 8000"/>
            </a:avLst>
          </a:prstGeom>
          <a:solidFill>
            <a:srgbClr val="DE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6809" bIns="76809"/>
          <a:lstStyle/>
          <a:p>
            <a:pPr algn="ctr"/>
            <a:r>
              <a:rPr sz="1200" b="1" i="0">
                <a:solidFill>
                  <a:srgbClr val="2B6E6B"/>
                </a:solidFill>
                <a:latin typeface="Calibri"/>
              </a:rPr>
              <a:t>52,786 packets - 8 alerts - 0 sockets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50207"/>
            <a:ext cx="11094415" cy="9525"/>
          </a:xfrm>
          <a:prstGeom prst="rect">
            <a:avLst/>
          </a:prstGeom>
          <a:solidFill>
            <a:srgbClr val="E1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069080"/>
            <a:ext cx="23317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11F"/>
                </a:solidFill>
                <a:latin typeface="Calibri"/>
              </a:rPr>
              <a:t>File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069080"/>
            <a:ext cx="4434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35956"/>
                </a:solidFill>
                <a:latin typeface="Calibri"/>
              </a:rPr>
              <a:t>builtins.open wrapped for a full run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4142232"/>
            <a:ext cx="3319272" cy="813816"/>
          </a:xfrm>
          <a:prstGeom prst="roundRect">
            <a:avLst>
              <a:gd name="adj" fmla="val 8000"/>
            </a:avLst>
          </a:prstGeom>
          <a:solidFill>
            <a:srgbClr val="DE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6809" bIns="76809"/>
          <a:lstStyle/>
          <a:p>
            <a:pPr algn="ctr"/>
            <a:r>
              <a:rPr sz="1200" b="1" i="0">
                <a:solidFill>
                  <a:srgbClr val="2B6E6B"/>
                </a:solidFill>
                <a:latin typeface="Calibri"/>
              </a:rPr>
              <a:t>only the capture opened, mode rb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047488"/>
            <a:ext cx="11094415" cy="9525"/>
          </a:xfrm>
          <a:prstGeom prst="rect">
            <a:avLst/>
          </a:prstGeom>
          <a:solidFill>
            <a:srgbClr val="E1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8640" y="5257800"/>
            <a:ext cx="502920" cy="502920"/>
          </a:xfrm>
          <a:prstGeom prst="ellipse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66360"/>
            <a:ext cx="23317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11F"/>
                </a:solidFill>
                <a:latin typeface="Calibri"/>
              </a:rPr>
              <a:t>Container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5166360"/>
            <a:ext cx="4434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35956"/>
                </a:solidFill>
                <a:latin typeface="Calibri"/>
              </a:rPr>
              <a:t>docker run --network none, capture mounted read-only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5239512"/>
            <a:ext cx="3319272" cy="813816"/>
          </a:xfrm>
          <a:prstGeom prst="roundRect">
            <a:avLst>
              <a:gd name="adj" fmla="val 8000"/>
            </a:avLst>
          </a:prstGeom>
          <a:solidFill>
            <a:srgbClr val="DE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6809" bIns="76809"/>
          <a:lstStyle/>
          <a:p>
            <a:pPr algn="ctr"/>
            <a:r>
              <a:rPr sz="1200" b="1" i="0">
                <a:solidFill>
                  <a:srgbClr val="2B6E6B"/>
                </a:solidFill>
                <a:latin typeface="Calibri"/>
              </a:rPr>
              <a:t>byte-identical alerts to the host run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8C918D"/>
                </a:solidFill>
                <a:latin typeface="Calibri"/>
              </a:rPr>
              <a:t>SIH 26145</a:t>
            </a:r>
            <a:r>
              <a:rPr sz="950" b="0" i="0">
                <a:solidFill>
                  <a:srgbClr val="8C918D"/>
                </a:solidFill>
                <a:latin typeface="Calibri"/>
              </a:rPr>
              <a:t>  ·  Innovation - 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C918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A5651E"/>
                </a:solidFill>
                <a:latin typeface="Calibri"/>
              </a:rPr>
              <a:t>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B211F"/>
                </a:solidFill>
                <a:latin typeface="Calibri"/>
              </a:rPr>
              <a:t>Thresholds that learn. Confidence that is computed.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89888"/>
            <a:ext cx="11094415" cy="22225"/>
          </a:xfrm>
          <a:prstGeom prst="rect">
            <a:avLst/>
          </a:prstGeom>
          <a:solidFill>
            <a:srgbClr val="E1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384048"/>
            <a:ext cx="1947672" cy="384048"/>
          </a:xfrm>
          <a:prstGeom prst="roundRect">
            <a:avLst>
              <a:gd name="adj" fmla="val 50000"/>
            </a:avLst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Criterion 2 - 15 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A5651E"/>
                </a:solidFill>
                <a:latin typeface="Calibri"/>
              </a:rPr>
              <a:t>Adaptive baselines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30552"/>
            <a:ext cx="5394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11F"/>
                </a:solidFill>
                <a:latin typeface="Calibri"/>
              </a:rPr>
              <a:t>EWMA per metric, three-layer floor (learned, then warm-up, then absolute minimum), winsorised clamp resists poisoning.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A5651E"/>
                </a:solidFill>
                <a:latin typeface="Calibri"/>
              </a:rPr>
              <a:t>Computed confidence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47872"/>
            <a:ext cx="5394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11F"/>
                </a:solidFill>
                <a:latin typeface="Calibri"/>
              </a:rPr>
              <a:t>alerts.schema.confidence_from() derives confidence from observed/threshold ratios. No detector contains a literal confidence value.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1772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A5651E"/>
                </a:solidFill>
                <a:latin typeface="Calibri"/>
              </a:rPr>
              <a:t>Hybrid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65192"/>
            <a:ext cx="5394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11F"/>
                </a:solidFill>
                <a:latin typeface="Calibri"/>
              </a:rPr>
              <a:t>5 explainable rule detectors plus 1 unsupervised IsolationForest trained only on benign traffic, because a passive monitor can never obtain labelled attacks to train 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376672" cy="4160520"/>
          </a:xfrm>
          <a:prstGeom prst="roundRect">
            <a:avLst>
              <a:gd name="adj" fmla="val 8000"/>
            </a:avLst>
          </a:prstGeom>
          <a:solidFill>
            <a:srgbClr val="222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153619" bIns="153619"/>
          <a:lstStyle/>
          <a:p>
            <a:pPr algn="l"/>
            <a:r>
              <a:rPr sz="1600" b="1" i="0">
                <a:solidFill>
                  <a:srgbClr val="FFFFFF"/>
                </a:solidFill>
                <a:latin typeface="Consolas"/>
              </a:rPr>
              <a:t>SYN_FLOOD</a:t>
            </a:r>
            <a:r>
              <a:rPr sz="1300" b="1" i="0">
                <a:solidFill>
                  <a:srgbClr val="E0994D"/>
                </a:solidFill>
                <a:latin typeface="Consolas"/>
              </a:rPr>
              <a:t>   conf=0.99</a:t>
            </a:r>
          </a:p>
          <a:p>
            <a:pPr algn="l"/>
            <a:r>
              <a:rPr sz="600" b="0" i="0">
                <a:solidFill>
                  <a:srgbClr val="1B211F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E7E9E3"/>
                </a:solidFill>
                <a:latin typeface="Consolas"/>
              </a:rPr>
              <a:t>syn_rate_pps:  1500</a:t>
            </a:r>
            <a:r>
              <a:rPr sz="1100" b="0" i="1">
                <a:solidFill>
                  <a:srgbClr val="9AA09C"/>
                </a:solidFill>
                <a:latin typeface="Consolas"/>
              </a:rPr>
              <a:t>   (baseline 50)</a:t>
            </a:r>
          </a:p>
          <a:p>
            <a:pPr algn="l"/>
            <a:r>
              <a:rPr sz="1200" b="0" i="0">
                <a:solidFill>
                  <a:srgbClr val="E7E9E3"/>
                </a:solidFill>
                <a:latin typeface="Consolas"/>
              </a:rPr>
              <a:t>completion_ratio:  0</a:t>
            </a:r>
            <a:r>
              <a:rPr sz="1100" b="0" i="1">
                <a:solidFill>
                  <a:srgbClr val="9AA09C"/>
                </a:solidFill>
                <a:latin typeface="Consolas"/>
              </a:rPr>
              <a:t>   (baseline 1)</a:t>
            </a:r>
          </a:p>
          <a:p>
            <a:pPr algn="l"/>
            <a:r>
              <a:rPr sz="1200" b="0" i="0">
                <a:solidFill>
                  <a:srgbClr val="E7E9E3"/>
                </a:solidFill>
                <a:latin typeface="Consolas"/>
              </a:rPr>
              <a:t>unique_source_ips:  7500</a:t>
            </a:r>
          </a:p>
          <a:p>
            <a:pPr algn="l"/>
            <a:r>
              <a:rPr sz="1200" b="0" i="0">
                <a:solidFill>
                  <a:srgbClr val="E7E9E3"/>
                </a:solidFill>
                <a:latin typeface="Consolas"/>
              </a:rPr>
              <a:t>source_ip_entropy:  12.87 bits</a:t>
            </a:r>
          </a:p>
          <a:p>
            <a:pPr algn="l"/>
            <a:r>
              <a:rPr sz="800" b="0" i="0">
                <a:solidFill>
                  <a:srgbClr val="1B211F"/>
                </a:solidFill>
                <a:latin typeface="Calibri"/>
              </a:rPr>
              <a:t/>
            </a:r>
          </a:p>
          <a:p>
            <a:pPr algn="l"/>
            <a:r>
              <a:rPr sz="1100" b="0" i="1">
                <a:solidFill>
                  <a:srgbClr val="9AA09C"/>
                </a:solidFill>
                <a:latin typeface="Calibri"/>
              </a:rPr>
              <a:t>near-uniform source spread: consistent with spoofing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6080760"/>
            <a:ext cx="5376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8C918D"/>
                </a:solidFill>
                <a:latin typeface="Calibri"/>
              </a:rPr>
              <a:t>every value above is measured, not chosen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8C918D"/>
                </a:solidFill>
                <a:latin typeface="Calibri"/>
              </a:rPr>
              <a:t>SIH 26145</a:t>
            </a:r>
            <a:r>
              <a:rPr sz="950" b="0" i="0">
                <a:solidFill>
                  <a:srgbClr val="8C918D"/>
                </a:solidFill>
                <a:latin typeface="Calibri"/>
              </a:rPr>
              <a:t>  ·  Innovation - Adaptive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C918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A5651E"/>
                </a:solidFill>
                <a:latin typeface="Calibri"/>
              </a:rPr>
              <a:t>TECHNICAL FEASIBILITY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211F"/>
                </a:solidFill>
                <a:latin typeface="Calibri"/>
              </a:rPr>
              <a:t>Not a concept - a measured, running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89888"/>
            <a:ext cx="11094415" cy="22225"/>
          </a:xfrm>
          <a:prstGeom prst="rect">
            <a:avLst/>
          </a:prstGeom>
          <a:solidFill>
            <a:srgbClr val="E1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384048"/>
            <a:ext cx="1947672" cy="384048"/>
          </a:xfrm>
          <a:prstGeom prst="roundRect">
            <a:avLst>
              <a:gd name="adj" fmla="val 50000"/>
            </a:avLst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Criterion 3 - 15 pts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828800"/>
          <a:ext cx="521208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1663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8C918D"/>
                </a:solidFill>
                <a:latin typeface="Calibri"/>
              </a:rPr>
              <a:t>throughput, single core, no GPU: two orders of magnitude of headroom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2574036" cy="1371600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7782" bIns="87782"/>
          <a:lstStyle/>
          <a:p>
            <a:pPr algn="ctr"/>
            <a:r>
              <a:rPr sz="2400" b="1" i="0">
                <a:solidFill>
                  <a:srgbClr val="A5651E"/>
                </a:solidFill>
                <a:latin typeface="Calibri"/>
              </a:rPr>
              <a:t>1.00</a:t>
            </a:r>
          </a:p>
          <a:p>
            <a:pPr algn="ctr"/>
            <a:r>
              <a:rPr sz="1050" b="0" i="0">
                <a:solidFill>
                  <a:srgbClr val="535956"/>
                </a:solidFill>
                <a:latin typeface="Calibri"/>
              </a:rPr>
              <a:t>Precision, Recall, F1</a:t>
            </a:r>
          </a:p>
          <a:p>
            <a:pPr algn="ctr"/>
            <a:r>
              <a:rPr sz="1050" b="0" i="0">
                <a:solidFill>
                  <a:srgbClr val="535956"/>
                </a:solidFill>
                <a:latin typeface="Calibri"/>
              </a:rPr>
              <a:t>across all 5 implemented classes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66276" y="1828800"/>
            <a:ext cx="2574036" cy="1371600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7782" bIns="87782"/>
          <a:lstStyle/>
          <a:p>
            <a:pPr algn="ctr"/>
            <a:r>
              <a:rPr sz="2400" b="1" i="0">
                <a:solidFill>
                  <a:srgbClr val="A5651E"/>
                </a:solidFill>
                <a:latin typeface="Calibri"/>
              </a:rPr>
              <a:t>0.997</a:t>
            </a:r>
          </a:p>
          <a:p>
            <a:pPr algn="ctr"/>
            <a:r>
              <a:rPr sz="1050" b="0" i="0">
                <a:solidFill>
                  <a:srgbClr val="535956"/>
                </a:solidFill>
                <a:latin typeface="Calibri"/>
              </a:rPr>
              <a:t>Mean ROC-AUC</a:t>
            </a:r>
          </a:p>
          <a:p>
            <a:pPr algn="ctr"/>
            <a:r>
              <a:rPr sz="1050" b="0" i="0">
                <a:solidFill>
                  <a:srgbClr val="535956"/>
                </a:solidFill>
                <a:latin typeface="Calibri"/>
              </a:rPr>
              <a:t>across held-out attack captures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383280"/>
            <a:ext cx="2574036" cy="1371600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7782" bIns="87782"/>
          <a:lstStyle/>
          <a:p>
            <a:pPr algn="ctr"/>
            <a:r>
              <a:rPr sz="2400" b="1" i="0">
                <a:solidFill>
                  <a:srgbClr val="A5651E"/>
                </a:solidFill>
                <a:latin typeface="Calibri"/>
              </a:rPr>
              <a:t>0 / 16,701</a:t>
            </a:r>
          </a:p>
          <a:p>
            <a:pPr algn="ctr"/>
            <a:r>
              <a:rPr sz="1050" b="0" i="0">
                <a:solidFill>
                  <a:srgbClr val="535956"/>
                </a:solidFill>
                <a:latin typeface="Calibri"/>
              </a:rPr>
              <a:t>False positives / benign packets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66276" y="3383280"/>
            <a:ext cx="2574036" cy="1371600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7782" bIns="87782"/>
          <a:lstStyle/>
          <a:p>
            <a:pPr algn="ctr"/>
            <a:r>
              <a:rPr sz="2400" b="1" i="0">
                <a:solidFill>
                  <a:srgbClr val="A5651E"/>
                </a:solidFill>
                <a:latin typeface="Calibri"/>
              </a:rPr>
              <a:t>5s - 140s</a:t>
            </a:r>
          </a:p>
          <a:p>
            <a:pPr algn="ctr"/>
            <a:r>
              <a:rPr sz="1050" b="0" i="0">
                <a:solidFill>
                  <a:srgbClr val="535956"/>
                </a:solidFill>
                <a:latin typeface="Calibri"/>
              </a:rPr>
              <a:t>First-alert latency by class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53212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1B21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8755" bIns="98755"/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OOM-hardened:  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600,000 unique spoofed 5-tuples at 100k pps against a 5,000-flow cap held peak residency at exactly 5,000.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8C918D"/>
                </a:solidFill>
                <a:latin typeface="Calibri"/>
              </a:rPr>
              <a:t>SIH 26145</a:t>
            </a:r>
            <a:r>
              <a:rPr sz="950" b="0" i="0">
                <a:solidFill>
                  <a:srgbClr val="8C918D"/>
                </a:solidFill>
                <a:latin typeface="Calibri"/>
              </a:rPr>
              <a:t>  ·  Technical Feasibility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C918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A5651E"/>
                </a:solidFill>
                <a:latin typeface="Calibri"/>
              </a:rPr>
              <a:t>HONEST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211F"/>
                </a:solidFill>
                <a:latin typeface="Calibri"/>
              </a:rPr>
              <a:t>Four complete. One partial. One absent.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89888"/>
            <a:ext cx="11094415" cy="22225"/>
          </a:xfrm>
          <a:prstGeom prst="rect">
            <a:avLst/>
          </a:prstGeom>
          <a:solidFill>
            <a:srgbClr val="E1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384048"/>
            <a:ext cx="1947672" cy="384048"/>
          </a:xfrm>
          <a:prstGeom prst="roundRect">
            <a:avLst>
              <a:gd name="adj" fmla="val 50000"/>
            </a:avLst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Criterion 3 - 15 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11094415" cy="12700"/>
          </a:xfrm>
          <a:prstGeom prst="rect">
            <a:avLst/>
          </a:prstGeom>
          <a:solidFill>
            <a:srgbClr val="E1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9319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B211F"/>
                </a:solidFill>
                <a:latin typeface="Calibri"/>
              </a:rPr>
              <a:t>(a) Volumetric / protocol DDoS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883664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9C7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PARTIAL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737360"/>
            <a:ext cx="5468112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35956"/>
                </a:solidFill>
                <a:latin typeface="Calibri"/>
              </a:rPr>
              <a:t>SYN + spoofed floods detected; UDP reflection/amplification not yet measurable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39319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B211F"/>
                </a:solidFill>
                <a:latin typeface="Calibri"/>
              </a:rPr>
              <a:t>(b) Botnet C2 beaconing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2615184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2B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468880"/>
            <a:ext cx="5468112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35956"/>
                </a:solidFill>
                <a:latin typeface="Calibri"/>
              </a:rPr>
              <a:t>Inter-arrival CV under 0.15, contact count, destination cardinality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39319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B211F"/>
                </a:solidFill>
                <a:latin typeface="Calibri"/>
              </a:rPr>
              <a:t>(c) DGA + DNS tunnelling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3346704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2B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COMPLETE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200400"/>
            <a:ext cx="5468112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35956"/>
                </a:solidFill>
                <a:latin typeface="Calibri"/>
              </a:rPr>
              <a:t>Entropy + bigram for DGA; subdomain volume + label length for tunnelling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31920"/>
            <a:ext cx="39319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B211F"/>
                </a:solidFill>
                <a:latin typeface="Calibri"/>
              </a:rPr>
              <a:t>(d) Malware in encrypted sessions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4078224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A13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ABSENT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931920"/>
            <a:ext cx="5468112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35956"/>
                </a:solidFill>
                <a:latin typeface="Calibri"/>
              </a:rPr>
              <a:t>Deliberately unbuilt - a time/priority call, not a barred capability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63440"/>
            <a:ext cx="39319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B211F"/>
                </a:solidFill>
                <a:latin typeface="Calibri"/>
              </a:rPr>
              <a:t>(e) Recon / port scanning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7720" y="4809744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2B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COMPLETE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663440"/>
            <a:ext cx="5468112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35956"/>
                </a:solidFill>
                <a:latin typeface="Calibri"/>
              </a:rPr>
              <a:t>Port + host fan-out, completion ratio, scan-shape classification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394959"/>
            <a:ext cx="39319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B211F"/>
                </a:solidFill>
                <a:latin typeface="Calibri"/>
              </a:rPr>
              <a:t>(f) Data exfiltration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17720" y="5541264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2B6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COMPLETE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5394959"/>
            <a:ext cx="5468112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35956"/>
                </a:solidFill>
                <a:latin typeface="Calibri"/>
              </a:rPr>
              <a:t>Outbound:inbound ratio over 8x, sustained 20s+, burstiness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172200"/>
            <a:ext cx="11091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A5651E"/>
                </a:solidFill>
                <a:latin typeface="Calibri"/>
              </a:rPr>
              <a:t>Next: TLS/JA3 fingerprinting -&gt; UDP amplification -&gt; NetFlow/IPFIX ingest -&gt; live SPAN capture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8C918D"/>
                </a:solidFill>
                <a:latin typeface="Calibri"/>
              </a:rPr>
              <a:t>SIH 26145</a:t>
            </a:r>
            <a:r>
              <a:rPr sz="950" b="0" i="0">
                <a:solidFill>
                  <a:srgbClr val="8C918D"/>
                </a:solidFill>
                <a:latin typeface="Calibri"/>
              </a:rPr>
              <a:t>  ·  Honest 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C918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A5651E"/>
                </a:solidFill>
                <a:latin typeface="Calibri"/>
              </a:rP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211F"/>
                </a:solidFill>
                <a:latin typeface="Calibri"/>
              </a:rPr>
              <a:t>What a defender at the gateway actually gains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89888"/>
            <a:ext cx="11094415" cy="22225"/>
          </a:xfrm>
          <a:prstGeom prst="rect">
            <a:avLst/>
          </a:prstGeom>
          <a:solidFill>
            <a:srgbClr val="E1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436108" cy="1828800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31673" bIns="131673"/>
          <a:lstStyle/>
          <a:p>
            <a:pPr algn="l"/>
            <a:r>
              <a:rPr sz="1600" b="1" i="0">
                <a:solidFill>
                  <a:srgbClr val="1B211F"/>
                </a:solidFill>
                <a:latin typeface="Calibri"/>
              </a:rPr>
              <a:t>Sees every threat class the moment it starts</a:t>
            </a:r>
          </a:p>
          <a:p>
            <a:pPr algn="l"/>
            <a:r>
              <a:rPr sz="500" b="0" i="0">
                <a:solidFill>
                  <a:srgbClr val="1B211F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535956"/>
                </a:solidFill>
                <a:latin typeface="Calibri"/>
              </a:rPr>
              <a:t>without the monitor itself ever becoming a target - it has nothing to attack back through.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36108" cy="38100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04204" y="1783080"/>
            <a:ext cx="5436108" cy="1828800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31673" bIns="131673"/>
          <a:lstStyle/>
          <a:p>
            <a:pPr algn="l"/>
            <a:r>
              <a:rPr sz="1600" b="1" i="0">
                <a:solidFill>
                  <a:srgbClr val="1B211F"/>
                </a:solidFill>
                <a:latin typeface="Calibri"/>
              </a:rPr>
              <a:t>Every alert explains itself</a:t>
            </a:r>
          </a:p>
          <a:p>
            <a:pPr algn="l"/>
            <a:r>
              <a:rPr sz="500" b="0" i="0">
                <a:solidFill>
                  <a:srgbClr val="1B211F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535956"/>
                </a:solidFill>
                <a:latin typeface="Calibri"/>
              </a:rPr>
              <a:t>an analyst acts on measured evidence without re-querying the production network.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4204" y="1783080"/>
            <a:ext cx="5436108" cy="38100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3886200"/>
            <a:ext cx="5436108" cy="1828800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31673" bIns="131673"/>
          <a:lstStyle/>
          <a:p>
            <a:pPr algn="l"/>
            <a:r>
              <a:rPr sz="1600" b="1" i="0">
                <a:solidFill>
                  <a:srgbClr val="1B211F"/>
                </a:solidFill>
                <a:latin typeface="Calibri"/>
              </a:rPr>
              <a:t>Two orders of magnitude of headroom</a:t>
            </a:r>
          </a:p>
          <a:p>
            <a:pPr algn="l"/>
            <a:r>
              <a:rPr sz="500" b="0" i="0">
                <a:solidFill>
                  <a:srgbClr val="1B211F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535956"/>
                </a:solidFill>
                <a:latin typeface="Calibri"/>
              </a:rPr>
              <a:t>109x real-time on one core, no GPU - room to grow with the link, not just keep up with it today.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886200"/>
            <a:ext cx="5436108" cy="38100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04204" y="3886200"/>
            <a:ext cx="5436108" cy="1828800"/>
          </a:xfrm>
          <a:prstGeom prst="roundRect">
            <a:avLst>
              <a:gd name="adj" fmla="val 8000"/>
            </a:avLst>
          </a:prstGeom>
          <a:solidFill>
            <a:srgbClr val="F4F2ED"/>
          </a:solidFill>
          <a:ln w="12700">
            <a:solidFill>
              <a:srgbClr val="E1D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31673" bIns="131673"/>
          <a:lstStyle/>
          <a:p>
            <a:pPr algn="l"/>
            <a:r>
              <a:rPr sz="1600" b="1" i="0">
                <a:solidFill>
                  <a:srgbClr val="1B211F"/>
                </a:solidFill>
                <a:latin typeface="Calibri"/>
              </a:rPr>
              <a:t>A guarantee you can hand to an auditor</a:t>
            </a:r>
          </a:p>
          <a:p>
            <a:pPr algn="l"/>
            <a:r>
              <a:rPr sz="500" b="0" i="0">
                <a:solidFill>
                  <a:srgbClr val="1B211F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535956"/>
                </a:solidFill>
                <a:latin typeface="Calibri"/>
              </a:rPr>
              <a:t>the isolation claim is proven four independent ways, not stated in a meeting.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4204" y="3886200"/>
            <a:ext cx="5436108" cy="38100"/>
          </a:xfrm>
          <a:prstGeom prst="rect">
            <a:avLst/>
          </a:prstGeom>
          <a:solidFill>
            <a:srgbClr val="A5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8C918D"/>
                </a:solidFill>
                <a:latin typeface="Calibri"/>
              </a:rPr>
              <a:t>SIH 26145</a:t>
            </a:r>
            <a:r>
              <a:rPr sz="950" b="0" i="0">
                <a:solidFill>
                  <a:srgbClr val="8C918D"/>
                </a:solidFill>
                <a:latin typeface="Calibri"/>
              </a:rPr>
              <a:t>  · 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57432" y="649224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C918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25400"/>
          </a:xfrm>
          <a:prstGeom prst="rect">
            <a:avLst/>
          </a:prstGeom>
          <a:solidFill>
            <a:srgbClr val="E1D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14884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1B211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06324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1">
                <a:solidFill>
                  <a:srgbClr val="535956"/>
                </a:solidFill>
                <a:latin typeface="Calibri"/>
              </a:rPr>
              <a:t>Questions welcome.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93192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A5651E"/>
                </a:solidFill>
                <a:latin typeface="Consolas"/>
              </a:rPr>
              <a:t>github.com/Shaik-Aayan-Javed/CyberThreatDetection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4348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C918D"/>
                </a:solidFill>
                <a:latin typeface="Consolas"/>
              </a:rPr>
              <a:t>python engine.py data/pcaps/mixed.pcap --pretty   *   python server.py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