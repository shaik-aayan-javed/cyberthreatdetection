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vs real time</c:v>
                </c:pt>
              </c:strCache>
            </c:strRef>
          </c:tx>
          <c:spPr>
            <a:solidFill>
              <a:srgbClr val="A5651E"/>
            </a:solidFill>
          </c:spPr>
          <c:cat>
            <c:strRef>
              <c:f>Sheet1!$A$2:$A$3</c:f>
              <c:strCache>
                <c:ptCount val="2"/>
                <c:pt idx="0">
                  <c:v>mixed.pcap</c:v>
                </c:pt>
                <c:pt idx="1">
                  <c:v>synflood.pcap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109</c:v>
                </c:pt>
                <c:pt idx="1">
                  <c:v>120</c:v>
                </c:pt>
              </c:numCache>
            </c:numRef>
          </c:val>
        </c:ser>
        <c:dLbls>
          <c:numFmt formatCode="0&quot;x&quot;" sourceLinked="0"/>
          <c:txPr>
            <a:bodyPr/>
            <a:lstStyle/>
            <a:p>
              <a:pPr>
                <a:defRPr sz="1500" b="1">
                  <a:solidFill>
                    <a:srgbClr val="1B21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DDD4"/>
            </a:solidFill>
          </a:ln>
        </c:spPr>
        <c:txPr>
          <a:bodyPr/>
          <a:lstStyle/>
          <a:p>
            <a:pPr>
              <a:defRPr sz="12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1750" cy="68580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SMART INDIA HACKATHON  ·  PROBLEM STATEMENT 26145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7589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B211F"/>
                </a:solidFill>
                <a:latin typeface="Calibri"/>
              </a:rPr>
              <a:t>Passive Threat Detection</a:t>
            </a:r>
          </a:p>
          <a:p>
            <a:pPr algn="l"/>
            <a:r>
              <a:rPr sz="4000" b="1" i="0">
                <a:solidFill>
                  <a:srgbClr val="1B211F"/>
                </a:solidFill>
                <a:latin typeface="Calibri"/>
              </a:rPr>
              <a:t>for Unidirectional IP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35956"/>
                </a:solidFill>
                <a:latin typeface="Calibri"/>
              </a:rPr>
              <a:t>AI-based detection of cyber threats in traffic mirrored one-way into a critical-infrastructure monitoring enclave, with no path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709160"/>
            <a:ext cx="2194560" cy="254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[Team Name]</a:t>
            </a:r>
            <a:r>
              <a:rPr sz="1400" b="0" i="1">
                <a:solidFill>
                  <a:srgbClr val="8C918D"/>
                </a:solidFill>
                <a:latin typeface="Calibri"/>
              </a:rPr>
              <a:t>   ·   [Institute / College]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5651E"/>
                </a:solidFill>
                <a:latin typeface="Consolas"/>
              </a:rPr>
              <a:t>github.com/Shaik-Aayan-Javed/CyberThreatDetection</a:t>
            </a:r>
          </a:p>
        </p:txBody>
      </p:sp>
      <p:sp>
        <p:nvSpPr>
          <p:cNvPr id="10" name="Oval 9"/>
          <p:cNvSpPr/>
          <p:nvPr/>
        </p:nvSpPr>
        <p:spPr>
          <a:xfrm>
            <a:off x="9829800" y="2377440"/>
            <a:ext cx="777240" cy="77724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TAP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0012680" y="3291840"/>
            <a:ext cx="411480" cy="502920"/>
          </a:xfrm>
          <a:prstGeom prst="downArrow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15400" y="3977639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A565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300" b="1" i="0">
                <a:solidFill>
                  <a:srgbClr val="1B211F"/>
                </a:solidFill>
                <a:latin typeface="Calibri"/>
              </a:rPr>
              <a:t>MONITOR</a:t>
            </a:r>
          </a:p>
          <a:p>
            <a:pPr algn="ctr"/>
            <a:r>
              <a:rPr sz="1050" b="0" i="1">
                <a:solidFill>
                  <a:srgbClr val="8C918D"/>
                </a:solidFill>
                <a:latin typeface="Calibri"/>
              </a:rPr>
              <a:t>one glass, one 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IN PLAIN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One rule, and everything else follows from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B211F"/>
                </a:solidFill>
                <a:latin typeface="Calibri"/>
              </a:rPr>
              <a:t>Imagine a power plant with hundreds of machines talking to each other every second. The company copies all of that traffic into a separate monitoring system, through a data diode.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1B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The monitoring system can see the traffic.</a:t>
            </a:r>
          </a:p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It can never send anything back.</a:t>
            </a:r>
          </a:p>
          <a:p>
            <a:pPr algn="ctr"/>
            <a:r>
              <a:rPr sz="1200" b="0" i="1">
                <a:solidFill>
                  <a:srgbClr val="9AA09C"/>
                </a:solidFill>
                <a:latin typeface="Calibri"/>
              </a:rPr>
              <a:t>If the monitor is ever compromised, the attacker still cannot use it to get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35956"/>
                </a:solidFill>
                <a:latin typeface="Calibri"/>
              </a:rPr>
              <a:t>Then an attacker starts: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4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 i="0">
                <a:solidFill>
                  <a:srgbClr val="1B211F"/>
                </a:solidFill>
                <a:latin typeface="Calibri"/>
              </a:rPr>
              <a:t>connection floods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41605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4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 i="0">
                <a:solidFill>
                  <a:srgbClr val="1B211F"/>
                </a:solidFill>
                <a:latin typeface="Calibri"/>
              </a:rPr>
              <a:t>port scans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92623" y="41605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4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 i="0">
                <a:solidFill>
                  <a:srgbClr val="1B211F"/>
                </a:solidFill>
                <a:latin typeface="Calibri"/>
              </a:rPr>
              <a:t>C2 beacons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14615" y="41605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4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 i="0">
                <a:solidFill>
                  <a:srgbClr val="1B211F"/>
                </a:solidFill>
                <a:latin typeface="Calibri"/>
              </a:rPr>
              <a:t>hidden DNS exfil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7" y="41605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4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 i="0">
                <a:solidFill>
                  <a:srgbClr val="1B211F"/>
                </a:solidFill>
                <a:latin typeface="Calibri"/>
              </a:rPr>
              <a:t>mass data theft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10916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1B211F"/>
                </a:solidFill>
                <a:latin typeface="Calibri"/>
              </a:rPr>
              <a:t>We can see all of this. We cannot investigate it.</a:t>
            </a:r>
          </a:p>
          <a:p>
            <a:pPr algn="ctr"/>
            <a:r>
              <a:rPr sz="1500" b="1" i="1">
                <a:solidFill>
                  <a:srgbClr val="A5651E"/>
                </a:solidFill>
                <a:latin typeface="Calibri"/>
              </a:rPr>
              <a:t>How do we detect attacks from sight alone? That is what this project solves.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In Plain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01 -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Watching a gateway that must never watch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1 - 10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11F"/>
                </a:solidFill>
                <a:latin typeface="Calibri"/>
              </a:rPr>
              <a:t>A nuclear plant's operational network exchanges data with the outside world through a single gateway. Security wants to see everything crossing it, but any monitoring system that can talk back becomes the very attack surface the isolation was built to remove.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11094415" cy="141732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53619" bIns="153619"/>
          <a:lstStyle/>
          <a:p>
            <a:pPr algn="l"/>
            <a:r>
              <a:rPr sz="1200" b="1" i="0">
                <a:solidFill>
                  <a:srgbClr val="A5651E"/>
                </a:solidFill>
                <a:latin typeface="Calibri"/>
              </a:rPr>
              <a:t>The PS, in one sentence:</a:t>
            </a:r>
          </a:p>
          <a:p>
            <a:pPr algn="l"/>
            <a:r>
              <a:rPr sz="1600" b="0" i="1">
                <a:solidFill>
                  <a:srgbClr val="1B211F"/>
                </a:solidFill>
                <a:latin typeface="Calibri"/>
              </a:rPr>
              <a:t>Detect DDoS, botnet C2, DNS-based attacks, encrypted malware, recon and exfiltration, purely from traffic mirrored one-way into a monitoring enclave, with no path back into the production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091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Zero decryption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payload is never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09160"/>
            <a:ext cx="38100" cy="123444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88536" y="47091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Zero return path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no socket in the detection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4709160"/>
            <a:ext cx="38100" cy="123444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1" y="47091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Bounded latency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alerts on window close, not end-of-run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1" y="4709160"/>
            <a:ext cx="38100" cy="123444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01 -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Two lists define the whole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1 - 10 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1B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 architectural constraints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Read-only ingest  </a:t>
            </a:r>
            <a:r>
              <a:rPr sz="1150" b="0" i="1">
                <a:solidFill>
                  <a:srgbClr val="535956"/>
                </a:solidFill>
                <a:latin typeface="Calibri"/>
              </a:rPr>
              <a:t>no physical or protocol path back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52928"/>
            <a:ext cx="384048" cy="3840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No payload decryption  </a:t>
            </a:r>
            <a:r>
              <a:rPr sz="1150" b="0" i="1">
                <a:solidFill>
                  <a:srgbClr val="535956"/>
                </a:solidFill>
                <a:latin typeface="Calibri"/>
              </a:rPr>
              <a:t>detection stops at headers + DNS query name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015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Streaming, not batch  </a:t>
            </a:r>
            <a:r>
              <a:rPr sz="1150" b="0" i="1">
                <a:solidFill>
                  <a:srgbClr val="535956"/>
                </a:solidFill>
                <a:latin typeface="Calibri"/>
              </a:rPr>
              <a:t>alerts on window close, bounded latency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86784"/>
            <a:ext cx="384048" cy="3840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68496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Defined throughput target  </a:t>
            </a:r>
            <a:r>
              <a:rPr sz="1150" b="0" i="1">
                <a:solidFill>
                  <a:srgbClr val="535956"/>
                </a:solidFill>
                <a:latin typeface="Calibri"/>
              </a:rPr>
              <a:t>flows/sec or Mbps, stated and measured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553712"/>
            <a:ext cx="384048" cy="3840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3542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Standardised alert schema  </a:t>
            </a:r>
            <a:r>
              <a:rPr sz="1150" b="0" i="1">
                <a:solidFill>
                  <a:srgbClr val="535956"/>
                </a:solidFill>
                <a:latin typeface="Calibri"/>
              </a:rPr>
              <a:t>timestamp, flow id, class, confidence,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5468112" cy="457200"/>
          </a:xfrm>
          <a:prstGeom prst="roundRect">
            <a:avLst>
              <a:gd name="adj" fmla="val 8000"/>
            </a:avLst>
          </a:prstGeom>
          <a:solidFill>
            <a:srgbClr val="1B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 threat classes</a:t>
            </a:r>
          </a:p>
        </p:txBody>
      </p:sp>
      <p:sp>
        <p:nvSpPr>
          <p:cNvPr id="18" name="Oval 17"/>
          <p:cNvSpPr/>
          <p:nvPr/>
        </p:nvSpPr>
        <p:spPr>
          <a:xfrm>
            <a:off x="6172200" y="2286000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6771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Volumetric / protocol DDoS</a:t>
            </a:r>
          </a:p>
        </p:txBody>
      </p:sp>
      <p:sp>
        <p:nvSpPr>
          <p:cNvPr id="20" name="Oval 19"/>
          <p:cNvSpPr/>
          <p:nvPr/>
        </p:nvSpPr>
        <p:spPr>
          <a:xfrm>
            <a:off x="6172200" y="2852928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834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Botnet C2 beaconing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3419856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4015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DGA domains + DNS tunnelling</a:t>
            </a:r>
          </a:p>
        </p:txBody>
      </p:sp>
      <p:sp>
        <p:nvSpPr>
          <p:cNvPr id="24" name="Oval 23"/>
          <p:cNvSpPr/>
          <p:nvPr/>
        </p:nvSpPr>
        <p:spPr>
          <a:xfrm>
            <a:off x="6172200" y="3986784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968496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Malware in encrypted sessions</a:t>
            </a:r>
          </a:p>
        </p:txBody>
      </p:sp>
      <p:sp>
        <p:nvSpPr>
          <p:cNvPr id="26" name="Oval 25"/>
          <p:cNvSpPr/>
          <p:nvPr/>
        </p:nvSpPr>
        <p:spPr>
          <a:xfrm>
            <a:off x="6172200" y="4553712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3542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Recon / port scanning</a:t>
            </a:r>
          </a:p>
        </p:txBody>
      </p:sp>
      <p:sp>
        <p:nvSpPr>
          <p:cNvPr id="28" name="Oval 27"/>
          <p:cNvSpPr/>
          <p:nvPr/>
        </p:nvSpPr>
        <p:spPr>
          <a:xfrm>
            <a:off x="6172200" y="5120640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10235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Data exfiltration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C918D"/>
                </a:solidFill>
                <a:latin typeface="Calibri"/>
              </a:rPr>
              <a:t>Every design decision in this prototype traces back to one of these eleven lines.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Understanding the 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211F"/>
                </a:solidFill>
                <a:latin typeface="Calibri"/>
              </a:rPr>
              <a:t>One mirrored copy in. Nothing else crosses the 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737360"/>
            <a:ext cx="7616952" cy="77724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900" b="1" i="0">
                <a:solidFill>
                  <a:srgbClr val="1B211F"/>
                </a:solidFill>
                <a:latin typeface="Calibri"/>
              </a:rPr>
              <a:t>Production Network   </a:t>
            </a:r>
            <a:r>
              <a:rPr sz="1900" b="1" i="0">
                <a:solidFill>
                  <a:srgbClr val="2B6E6B"/>
                </a:solidFill>
                <a:latin typeface="Calibri"/>
              </a:rPr>
              <a:t>&lt;-&gt;</a:t>
            </a:r>
            <a:r>
              <a:rPr sz="1900" b="1" i="0">
                <a:solidFill>
                  <a:srgbClr val="1B211F"/>
                </a:solidFill>
                <a:latin typeface="Calibri"/>
              </a:rPr>
              <a:t>   Internet / Corporate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542032"/>
            <a:ext cx="7616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C918D"/>
                </a:solidFill>
                <a:latin typeface="Calibri"/>
              </a:rPr>
              <a:t>ordinary two-way traffic on the gateway link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7608" y="2834640"/>
            <a:ext cx="25400" cy="320040"/>
          </a:xfrm>
          <a:prstGeom prst="rect">
            <a:avLst/>
          </a:prstGeom>
          <a:solidFill>
            <a:srgbClr val="535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14416" y="3127248"/>
            <a:ext cx="841248" cy="8412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TAP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06440" y="4069080"/>
            <a:ext cx="457200" cy="502920"/>
          </a:xfrm>
          <a:prstGeom prst="downArrow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4114800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5651E"/>
                </a:solidFill>
                <a:latin typeface="Calibri"/>
              </a:rPr>
              <a:t>one-way copy</a:t>
            </a:r>
          </a:p>
          <a:p>
            <a:pPr algn="l"/>
            <a:r>
              <a:rPr sz="1150" b="0" i="1">
                <a:solidFill>
                  <a:srgbClr val="8C918D"/>
                </a:solidFill>
                <a:latin typeface="Calibri"/>
              </a:rPr>
              <a:t>mirror / data diode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709160"/>
            <a:ext cx="7616952" cy="96012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9050">
            <a:solidFill>
              <a:srgbClr val="A565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900" b="1" i="0">
                <a:solidFill>
                  <a:srgbClr val="1B211F"/>
                </a:solidFill>
                <a:latin typeface="Calibri"/>
              </a:rPr>
              <a:t>Monitoring Enclave</a:t>
            </a:r>
          </a:p>
          <a:p>
            <a:pPr algn="ctr"/>
            <a:r>
              <a:rPr sz="1200" b="0" i="0">
                <a:solidFill>
                  <a:srgbClr val="535956"/>
                </a:solidFill>
                <a:latin typeface="Consolas"/>
              </a:rPr>
              <a:t>capture  -&gt;  detection  -&gt;  dashboard (loopback-only)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4709160"/>
            <a:ext cx="31750" cy="777240"/>
          </a:xfrm>
          <a:prstGeom prst="rect">
            <a:avLst/>
          </a:prstGeom>
          <a:solidFill>
            <a:srgbClr val="A1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470916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13349"/>
                </a:solidFill>
                <a:latin typeface="Calibri"/>
              </a:rPr>
              <a:t>X</a:t>
            </a:r>
          </a:p>
          <a:p>
            <a:pPr algn="l"/>
            <a:r>
              <a:rPr sz="1150" b="1" i="0">
                <a:solidFill>
                  <a:srgbClr val="A13349"/>
                </a:solidFill>
                <a:latin typeface="Calibri"/>
              </a:rPr>
              <a:t>no return path</a:t>
            </a:r>
          </a:p>
          <a:p>
            <a:pPr algn="l"/>
            <a:r>
              <a:rPr sz="1050" b="0" i="1">
                <a:solidFill>
                  <a:srgbClr val="A13349"/>
                </a:solidFill>
                <a:latin typeface="Calibri"/>
              </a:rPr>
              <a:t>physically absent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35956"/>
                </a:solidFill>
                <a:latin typeface="Calibri"/>
              </a:rPr>
              <a:t>Every arrow above points away from the monitored network. There is no return edge.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How a packet becomes an alert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1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Packets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capture, in order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ingest/reader.py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2048256" y="3323844"/>
            <a:ext cx="274320" cy="310896"/>
          </a:xfrm>
          <a:prstGeom prst="rightArrow">
            <a:avLst/>
          </a:prstGeom>
          <a:solidFill>
            <a:srgbClr val="8C9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50592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2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Flows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5-tuple table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ingest/flows.py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950208" y="3323844"/>
            <a:ext cx="274320" cy="310896"/>
          </a:xfrm>
          <a:prstGeom prst="rightArrow">
            <a:avLst/>
          </a:prstGeom>
          <a:solidFill>
            <a:srgbClr val="8C9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3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Window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5-second snapshot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features/extract.py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852160" y="3323844"/>
            <a:ext cx="274320" cy="310896"/>
          </a:xfrm>
          <a:prstGeom prst="rightArrow">
            <a:avLst/>
          </a:prstGeom>
          <a:solidFill>
            <a:srgbClr val="8C9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4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Features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per-host vectors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features/baseline.py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754112" y="3323844"/>
            <a:ext cx="274320" cy="310896"/>
          </a:xfrm>
          <a:prstGeom prst="rightArrow">
            <a:avLst/>
          </a:prstGeom>
          <a:solidFill>
            <a:srgbClr val="8C9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5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Detectors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5 rules + 1 model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detectors/*.py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656064" y="3323844"/>
            <a:ext cx="274320" cy="310896"/>
          </a:xfrm>
          <a:prstGeom prst="rightArrow">
            <a:avLst/>
          </a:prstGeom>
          <a:solidFill>
            <a:srgbClr val="8C9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0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6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Alert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structured JSON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alerts/schema.py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B211F"/>
                </a:solidFill>
                <a:latin typeface="Calibri"/>
              </a:rPr>
              <a:t>The single design decision that made three days of work: detectors are stateful window consumers from the first line of code, so batch-to-streaming was never a rewrite.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F2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300" b="0" i="0">
                <a:solidFill>
                  <a:srgbClr val="1B211F"/>
                </a:solidFill>
                <a:latin typeface="Calibri"/>
              </a:rPr>
              <a:t>Confidence is computed, not chosen, from observed/threshold ratios, compounded so independent signals corroborate each other. No detector contains a hardcoded confidence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DETECTION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Six signals a threat shows in the traffic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SYN_FLOOD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SYN rate vs learned baseline, completion ratio near 0, source-IP entropy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detectors/synflood.py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20540" y="1691640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PORT_SCAN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Port + host fan-out from one source, RST ratio, sequential-port runs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detectors/portscan.py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540" y="1691640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C2_BEACON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Coefficient of variation of inter-arrival times under 0.15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detectors/beacon.py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691640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904487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DNS_ANOMALY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QNAME entropy + bigram, subdomain volume, label length, record type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detectors/dns.py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04487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0540" y="3904487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EXFIL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Outbound:inbound byte ratio over 8x, sustained 20s+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detectors/exfil.py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540" y="3904487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3904487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ANOMALOUS_FLOW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IsolationForest, 10 features/host/window, trained on benign only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detectors/anomaly.py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904487"/>
            <a:ext cx="38100" cy="2084831"/>
          </a:xfrm>
          <a:prstGeom prst="rect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Detection Surface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Proven four ways. Not asserted on a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2 - 15 pts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19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Static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874519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Every detection-path module AST-parsed; rejects networking/subprocess imports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947672"/>
            <a:ext cx="3319272" cy="813816"/>
          </a:xfrm>
          <a:prstGeom prst="roundRect">
            <a:avLst>
              <a:gd name="adj" fmla="val 8000"/>
            </a:avLst>
          </a:prstGeom>
          <a:solidFill>
            <a:srgbClr val="DE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200" b="1" i="0">
                <a:solidFill>
                  <a:srgbClr val="2B6E6B"/>
                </a:solidFill>
                <a:latin typeface="Calibri"/>
              </a:rPr>
              <a:t>17 / 17 files clean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52927"/>
            <a:ext cx="11094415" cy="95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71800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Real capture replayed with socket.socket() poisoned to raise on construction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044952"/>
            <a:ext cx="3319272" cy="813816"/>
          </a:xfrm>
          <a:prstGeom prst="roundRect">
            <a:avLst>
              <a:gd name="adj" fmla="val 8000"/>
            </a:avLst>
          </a:prstGeom>
          <a:solidFill>
            <a:srgbClr val="DE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200" b="1" i="0">
                <a:solidFill>
                  <a:srgbClr val="2B6E6B"/>
                </a:solidFill>
                <a:latin typeface="Calibri"/>
              </a:rPr>
              <a:t>52,786 packets - 8 alerts - 0 sockets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50207"/>
            <a:ext cx="11094415" cy="95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69080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File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069080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builtins.open wrapped for a full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142232"/>
            <a:ext cx="3319272" cy="813816"/>
          </a:xfrm>
          <a:prstGeom prst="roundRect">
            <a:avLst>
              <a:gd name="adj" fmla="val 8000"/>
            </a:avLst>
          </a:prstGeom>
          <a:solidFill>
            <a:srgbClr val="DE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200" b="1" i="0">
                <a:solidFill>
                  <a:srgbClr val="2B6E6B"/>
                </a:solidFill>
                <a:latin typeface="Calibri"/>
              </a:rPr>
              <a:t>only the capture opened, mode rb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47488"/>
            <a:ext cx="11094415" cy="95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66360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Container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166360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docker run --network none, capture mounted read-only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5239512"/>
            <a:ext cx="3319272" cy="813816"/>
          </a:xfrm>
          <a:prstGeom prst="roundRect">
            <a:avLst>
              <a:gd name="adj" fmla="val 8000"/>
            </a:avLst>
          </a:prstGeom>
          <a:solidFill>
            <a:srgbClr val="DE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200" b="1" i="0">
                <a:solidFill>
                  <a:srgbClr val="2B6E6B"/>
                </a:solidFill>
                <a:latin typeface="Calibri"/>
              </a:rPr>
              <a:t>byte-identical alerts to the host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Innovation -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211F"/>
                </a:solidFill>
                <a:latin typeface="Calibri"/>
              </a:rPr>
              <a:t>Thresholds that learn. Confidence that is computed.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2 - 15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A5651E"/>
                </a:solidFill>
                <a:latin typeface="Calibri"/>
              </a:rPr>
              <a:t>Adaptive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30552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11F"/>
                </a:solidFill>
                <a:latin typeface="Calibri"/>
              </a:rPr>
              <a:t>EWMA per metric, three-layer floor (learned, then warm-up, then absolute minimum), winsorised clamp resists poisoning.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A5651E"/>
                </a:solidFill>
                <a:latin typeface="Calibri"/>
              </a:rPr>
              <a:t>Computed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47872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11F"/>
                </a:solidFill>
                <a:latin typeface="Calibri"/>
              </a:rPr>
              <a:t>alerts.schema.confidence_from() derives confidence from observed/threshold ratios. No detector contains a literal confidence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A5651E"/>
                </a:solidFill>
                <a:latin typeface="Calibri"/>
              </a:rPr>
              <a:t>Hybrid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65192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11F"/>
                </a:solidFill>
                <a:latin typeface="Calibri"/>
              </a:rPr>
              <a:t>5 explainable rule detectors plus 1 unsupervised IsolationForest trained only on benign traffic, because a passive monitor can never obtain labelled attacks to train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376672" cy="4160520"/>
          </a:xfrm>
          <a:prstGeom prst="roundRect">
            <a:avLst>
              <a:gd name="adj" fmla="val 8000"/>
            </a:avLst>
          </a:prstGeom>
          <a:solidFill>
            <a:srgbClr val="222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53619" bIns="153619"/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SYN_FLOOD</a:t>
            </a:r>
            <a:r>
              <a:rPr sz="1300" b="1" i="0">
                <a:solidFill>
                  <a:srgbClr val="E0994D"/>
                </a:solidFill>
                <a:latin typeface="Consolas"/>
              </a:rPr>
              <a:t>   conf=0.99</a:t>
            </a:r>
          </a:p>
          <a:p>
            <a:pPr algn="l"/>
            <a:r>
              <a:rPr sz="6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7E9E3"/>
                </a:solidFill>
                <a:latin typeface="Consolas"/>
              </a:rPr>
              <a:t>syn_rate_pps:  1500</a:t>
            </a:r>
            <a:r>
              <a:rPr sz="1100" b="0" i="1">
                <a:solidFill>
                  <a:srgbClr val="9AA09C"/>
                </a:solidFill>
                <a:latin typeface="Consolas"/>
              </a:rPr>
              <a:t>   (baseline 50)</a:t>
            </a:r>
          </a:p>
          <a:p>
            <a:pPr algn="l"/>
            <a:r>
              <a:rPr sz="1200" b="0" i="0">
                <a:solidFill>
                  <a:srgbClr val="E7E9E3"/>
                </a:solidFill>
                <a:latin typeface="Consolas"/>
              </a:rPr>
              <a:t>completion_ratio:  0</a:t>
            </a:r>
            <a:r>
              <a:rPr sz="1100" b="0" i="1">
                <a:solidFill>
                  <a:srgbClr val="9AA09C"/>
                </a:solidFill>
                <a:latin typeface="Consolas"/>
              </a:rPr>
              <a:t>   (baseline 1)</a:t>
            </a:r>
          </a:p>
          <a:p>
            <a:pPr algn="l"/>
            <a:r>
              <a:rPr sz="1200" b="0" i="0">
                <a:solidFill>
                  <a:srgbClr val="E7E9E3"/>
                </a:solidFill>
                <a:latin typeface="Consolas"/>
              </a:rPr>
              <a:t>unique_source_ips:  7500</a:t>
            </a:r>
          </a:p>
          <a:p>
            <a:pPr algn="l"/>
            <a:r>
              <a:rPr sz="1200" b="0" i="0">
                <a:solidFill>
                  <a:srgbClr val="E7E9E3"/>
                </a:solidFill>
                <a:latin typeface="Consolas"/>
              </a:rPr>
              <a:t>source_ip_entropy:  12.87 bits</a:t>
            </a:r>
          </a:p>
          <a:p>
            <a:pPr algn="l"/>
            <a:r>
              <a:rPr sz="8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100" b="0" i="1">
                <a:solidFill>
                  <a:srgbClr val="9AA09C"/>
                </a:solidFill>
                <a:latin typeface="Calibri"/>
              </a:rPr>
              <a:t>near-uniform source spread: consistent with spoofing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6080760"/>
            <a:ext cx="5376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C918D"/>
                </a:solidFill>
                <a:latin typeface="Calibri"/>
              </a:rPr>
              <a:t>every value above is measured, not chosen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Innovation - Adaptive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TECHNICAL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Not a concept - a measured, running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3 - 15 pts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28800"/>
          <a:ext cx="52120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66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C918D"/>
                </a:solidFill>
                <a:latin typeface="Calibri"/>
              </a:rPr>
              <a:t>throughput, single core, no GPU: two orders of magnitude of headroom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ctr"/>
            <a:r>
              <a:rPr sz="2400" b="1" i="0">
                <a:solidFill>
                  <a:srgbClr val="A5651E"/>
                </a:solidFill>
                <a:latin typeface="Calibri"/>
              </a:rPr>
              <a:t>1.00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Precision, Recall, F1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across all 5 implemented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6276" y="1828800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ctr"/>
            <a:r>
              <a:rPr sz="2400" b="1" i="0">
                <a:solidFill>
                  <a:srgbClr val="A5651E"/>
                </a:solidFill>
                <a:latin typeface="Calibri"/>
              </a:rPr>
              <a:t>0.997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Mean ROC-AUC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across held-out attack captures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383280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ctr"/>
            <a:r>
              <a:rPr sz="2400" b="1" i="0">
                <a:solidFill>
                  <a:srgbClr val="A5651E"/>
                </a:solidFill>
                <a:latin typeface="Calibri"/>
              </a:rPr>
              <a:t>0 / 16,701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False positives / benign packets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6276" y="3383280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ctr"/>
            <a:r>
              <a:rPr sz="2400" b="1" i="0">
                <a:solidFill>
                  <a:srgbClr val="A5651E"/>
                </a:solidFill>
                <a:latin typeface="Calibri"/>
              </a:rPr>
              <a:t>5s - 140s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First-alert latency by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1B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8755" bIns="98755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OOM-hardened: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600,000 unique spoofed 5-tuples at 100k pps against a 5,000-flow cap held peak residency at exactly 5,000.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Technical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HONEST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Four complete. One partial. One absent.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3 - 15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94415" cy="12700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(a) Volumetric / protocol DDoS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88366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9C7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SYN + spoofed floods detected; UDP reflection/amplification not yet measurable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(b) Botnet C2 beaconing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615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468880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Inter-arrival CV under 0.15, contact count, destination cardinality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(c) DGA + DNS tunnelling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34670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200400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Entropy + bigram for DGA; subdomain volume + label length for tunnelling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(d) Malware in encrypted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07822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A1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ABSENT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931920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Deliberately unbuilt - a time/priority call, not a barred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(e) Recon / port scanning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480974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663440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Port + host fan-out, completion ratio, scan-shape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59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(f) Data exfiltration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554126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5394959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Outbound:inbound ratio over 8x, sustained 20s+, burstiness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A5651E"/>
                </a:solidFill>
                <a:latin typeface="Calibri"/>
              </a:rPr>
              <a:t>Every gap above has a scoped, documented path forward.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Honest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What a defender at the gateway actually gains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36108" cy="18288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31673" bIns="131673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Sees every threat class the moment it starts</a:t>
            </a:r>
          </a:p>
          <a:p>
            <a:pPr algn="l"/>
            <a:r>
              <a:rPr sz="5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without the monitor itself ever becoming a target - it has nothing to attack back through.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36108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4204" y="1783080"/>
            <a:ext cx="5436108" cy="18288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31673" bIns="131673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Every alert explains itself</a:t>
            </a:r>
          </a:p>
          <a:p>
            <a:pPr algn="l"/>
            <a:r>
              <a:rPr sz="5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an analyst acts on measured evidence without re-querying the production network.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4204" y="1783080"/>
            <a:ext cx="5436108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886200"/>
            <a:ext cx="5436108" cy="18288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31673" bIns="131673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Two orders of magnitude of headroom</a:t>
            </a:r>
          </a:p>
          <a:p>
            <a:pPr algn="l"/>
            <a:r>
              <a:rPr sz="5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109x real-time on one core, no GPU - room to grow with the link, not just keep up with it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5436108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04204" y="3886200"/>
            <a:ext cx="5436108" cy="18288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31673" bIns="131673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A guarantee you can hand to an auditor</a:t>
            </a:r>
          </a:p>
          <a:p>
            <a:pPr algn="l"/>
            <a:r>
              <a:rPr sz="5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the isolation claim is proven four independent ways, not stated in a meeting.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4204" y="3886200"/>
            <a:ext cx="5436108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Where a passive, one-way monitor is the only kind allowed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500" b="1" i="0">
                <a:solidFill>
                  <a:srgbClr val="1B211F"/>
                </a:solidFill>
                <a:latin typeface="Calibri"/>
              </a:rPr>
              <a:t>Nuclear power plants</a:t>
            </a:r>
          </a:p>
          <a:p>
            <a:pPr algn="l"/>
            <a:r>
              <a:rPr sz="4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Reactor control networks behind a data diode - the PS's own framing.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20540" y="1691640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500" b="1" i="0">
                <a:solidFill>
                  <a:srgbClr val="1B211F"/>
                </a:solidFill>
                <a:latin typeface="Calibri"/>
              </a:rPr>
              <a:t>Power grid substations</a:t>
            </a:r>
          </a:p>
          <a:p>
            <a:pPr algn="l"/>
            <a:r>
              <a:rPr sz="4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SCADA/RTU behind the OT/IT boundary, NERC CIP-aligned monitoring.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540" y="1691640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500" b="1" i="0">
                <a:solidFill>
                  <a:srgbClr val="1B211F"/>
                </a:solidFill>
                <a:latin typeface="Calibri"/>
              </a:rPr>
              <a:t>Water treatment plants</a:t>
            </a:r>
          </a:p>
          <a:p>
            <a:pPr algn="l"/>
            <a:r>
              <a:rPr sz="4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Legacy PLCs that cannot tolerate active scanning or patching.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691640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904487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500" b="1" i="0">
                <a:solidFill>
                  <a:srgbClr val="1B211F"/>
                </a:solidFill>
                <a:latin typeface="Calibri"/>
              </a:rPr>
              <a:t>Defense / classified networks</a:t>
            </a:r>
          </a:p>
          <a:p>
            <a:pPr algn="l"/>
            <a:r>
              <a:rPr sz="4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A monitor that could talk back is itself the accreditation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04487"/>
            <a:ext cx="38100" cy="2084831"/>
          </a:xfrm>
          <a:prstGeom prst="rect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0540" y="3904487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500" b="1" i="0">
                <a:solidFill>
                  <a:srgbClr val="1B211F"/>
                </a:solidFill>
                <a:latin typeface="Calibri"/>
              </a:rPr>
              <a:t>Hospital device networks</a:t>
            </a:r>
          </a:p>
          <a:p>
            <a:pPr algn="l"/>
            <a:r>
              <a:rPr sz="4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Legacy-OS infusion pumps and imaging gear; catches a device phoning home.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540" y="3904487"/>
            <a:ext cx="38100" cy="2084831"/>
          </a:xfrm>
          <a:prstGeom prst="rect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3904487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500" b="1" i="0">
                <a:solidFill>
                  <a:srgbClr val="1B211F"/>
                </a:solidFill>
                <a:latin typeface="Calibri"/>
              </a:rPr>
              <a:t>Manufacturing / Industry 4.0</a:t>
            </a:r>
          </a:p>
          <a:p>
            <a:pPr algn="l"/>
            <a:r>
              <a:rPr sz="4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Catches IT-to-OT ransomware crossover before it reaches the floor.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904487"/>
            <a:ext cx="38100" cy="2084831"/>
          </a:xfrm>
          <a:prstGeom prst="rect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Five extensions, in priority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709928"/>
            <a:ext cx="365760" cy="36576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10040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5651E"/>
                </a:solidFill>
                <a:latin typeface="Calibri"/>
              </a:rPr>
              <a:t>TLS_MALWARE Detection</a:t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Malware detection via JA3/JA4 fingerprints from ClientHello metadata, without decrypting payload - completes the last unbuilt class (d).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74036"/>
            <a:ext cx="365760" cy="36576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55748"/>
            <a:ext cx="10040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5651E"/>
                </a:solidFill>
                <a:latin typeface="Calibri"/>
              </a:rPr>
              <a:t>UDP Reflection/Amplification Detection</a:t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Request:response size ratios (udp_bytes_in) over specific service ports - completes the partial implementation of class (a).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38144"/>
            <a:ext cx="365760" cy="36576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10040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5651E"/>
                </a:solidFill>
                <a:latin typeface="Calibri"/>
              </a:rPr>
              <a:t>NetFlow/IPFIX Ingest</a:t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Ingest NetFlow/IPFIX alongside PCAP. Real architectural work: engine.run() hardcodes PcapReader, and detection depends on per-packet TCP flags flow records do not carry.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02251"/>
            <a:ext cx="365760" cy="36576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83964"/>
            <a:ext cx="10040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5651E"/>
                </a:solidFill>
                <a:latin typeface="Calibri"/>
              </a:rPr>
              <a:t>Live SPAN Capture</a:t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Move from synthetic captures to live SPAN ingest - deliberately re-making and re-proving the layer-1 unidirectional isolation argument.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166359"/>
            <a:ext cx="365760" cy="36576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148072"/>
            <a:ext cx="10040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5651E"/>
                </a:solidFill>
                <a:latin typeface="Calibri"/>
              </a:rPr>
              <a:t>Alert Persistence &amp; Querying</a:t>
            </a:r>
          </a:p>
          <a:p>
            <a:pPr algn="l"/>
            <a:r>
              <a:rPr sz="1150" b="0" i="0">
                <a:solidFill>
                  <a:srgbClr val="535956"/>
                </a:solidFill>
                <a:latin typeface="Calibri"/>
              </a:rPr>
              <a:t>Persistent alert storage and historical query, beyond real-time terminal/WebSocket display.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C918D"/>
                </a:solidFill>
                <a:latin typeface="Calibri"/>
              </a:rPr>
              <a:t>Nothing in the current design needs to be undone to add any of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25400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B211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535956"/>
                </a:solidFill>
                <a:latin typeface="Calibri"/>
              </a:rPr>
              <a:t>Questions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A5651E"/>
                </a:solidFill>
                <a:latin typeface="Consolas"/>
              </a:rPr>
              <a:t>github.com/Shaik-Aayan-Javed/CyberThreatDetection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C918D"/>
                </a:solidFill>
                <a:latin typeface="Consolas"/>
              </a:rPr>
              <a:t>python engine.py data/pcaps/mixed.pcap --pretty   *   python server.py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